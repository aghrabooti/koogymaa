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Title — 20s</a:t>
            </a:r>
          </a:p>
          <a:p/>
          <a:p>
            <a:r>
              <a:t>Good morning. I'm presenting KooGYMaa, an integrated platform for gyms, trainers and athletes. It is a full-stack web application built with Next.js 16, React 19, TypeScript and Prisma.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Agenda — 20s</a:t>
            </a:r>
          </a:p>
          <a:p/>
          <a:p>
            <a:r>
              <a:t>Fifteen minutes: the problem, the solution, how it is built, a walkthrough of all three roles, then security, quality and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The problem — 1:20</a:t>
            </a:r>
          </a:p>
          <a:p/>
          <a:p>
            <a:r>
              <a:t>Gyms run on paper and spreadsheets. Coaches send plans as photos in chat apps. Athletes have no progress history. And owners have no visibility into revenue, retention or expiries. Three worlds that never talk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Solution — 1:10</a:t>
            </a:r>
          </a:p>
          <a:p/>
          <a:p>
            <a:r>
              <a:t>One platform, three roles. Members train and track. Trainers coach and assign. Owners operate and monetise. The key point: every action one role takes is immediately visible to the other two.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 Scope — 50s</a:t>
            </a:r>
          </a:p>
          <a:p/>
          <a:p>
            <a:r>
              <a:t>In numbers: 33 database models, 76 API routes, three role workspaces and 73 automated tests. Bilingual English/Persian with full RTL, light and dark themes, responsive to mobile.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 Stack — 40s</a:t>
            </a:r>
          </a:p>
          <a:p/>
          <a:p>
            <a:r>
              <a:t>Next.js App Router with React Server Components on the front, route handlers and a separate domain layer on the back, Prisma over SQLite locally and Turso libSQL in the cloud.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 Architecture — 1:00</a:t>
            </a:r>
          </a:p>
          <a:p/>
          <a:p>
            <a:r>
              <a:t>One deployable Next.js application. Requests hit either a server page or an API route; both pass through the auth layer, which validates the JWT session cookie and the role. Business rules live in the domain layer, never in the components. A daily scheduler handles expiries and renewals.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[5:40] Data model — 1:00</a:t>
            </a:r>
          </a:p>
          <a:p/>
          <a:p>
            <a:r>
              <a:t>33 models in four groups. The important design decision: relationships carry the business rules, not boolean flags. A membership is a row with a status and a lifecycle, not a flag on a user. Money is stored as integers in the smallest currency unit, and plans become immutable once assigned.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[6:40] The product — 40s</a:t>
            </a:r>
          </a:p>
          <a:p/>
          <a:p>
            <a:r>
              <a:t>This is the public side: anyone can browse gyms and trainers before signing up, in English or Persian, light or dark.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[7:20] Member journey — 1:20</a:t>
            </a:r>
          </a:p>
          <a:p/>
          <a:p>
            <a:r>
              <a:t>The member discovers a gym, subscribes and pays, requests a trainer, follows the assigned plan and logs every session. The dashboard on the left is live data: streaks, adherence, next session, active services.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[8:40] Progress — 1:10</a:t>
            </a:r>
          </a:p>
          <a:p/>
          <a:p>
            <a:r>
              <a:t>This is the part that matters most. Workout logs compare prescribed against actual load and RPE. Nutrition logs track completion and substitutions. Body check-ins record weight, body fat and measurements. And the trainer can attach feedback to one specific log — a two-way thread.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[9:50] Trainer workspace — 1:10</a:t>
            </a:r>
          </a:p>
          <a:p/>
          <a:p>
            <a:r>
              <a:t>Trainers build reusable, versioned plans. Publishing locks a version; 'New version' keeps the family and increments. Scheduling checks for conflicts and only allows sessions with active students at a shared gym.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Gym owner — 1:10</a:t>
            </a:r>
          </a:p>
          <a:p/>
          <a:p>
            <a:r>
              <a:t>The owner approves applications, prices subscription plans, and reconciles payments. These are real KPIs computed from the database: active members, net revenue after refunds, expiries this week. Sensitive actions are audited.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[12:10] Payments — 50s</a:t>
            </a:r>
          </a:p>
          <a:p/>
          <a:p>
            <a:r>
              <a:t>Checkout is idempotent, so the same cart is never charged twice. The provider calls back through a signed webhook, and only a confirmed payment activates the subscription. Refunds reconcile access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[13:00] Security &amp; quality — 50s</a:t>
            </a:r>
          </a:p>
          <a:p/>
          <a:p>
            <a:r>
              <a:t>Authorisation is re-checked server-side on every mutation — middleware is only an optimistic first layer. Sessions are signed, HttpOnly and revocable. 73 tests, strict TypeScript and CI on every push.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[13:50] Real users — 30s</a:t>
            </a:r>
          </a:p>
          <a:p/>
          <a:p>
            <a:r>
              <a:t>Bilingual with a mirrored RTL layout, Jalali dates and Persian numerals, and it works down to a phone.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[14:20] Results &amp; future — 30s</a:t>
            </a:r>
          </a:p>
          <a:p/>
          <a:p>
            <a:r>
              <a:t>Delivered: a working end-to-end platform with a real commerce and trust layer. Next: a production payment gateway, a mobile app with push reminders, and analytics.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[14:50] Thank you — 10s</a:t>
            </a:r>
          </a:p>
          <a:p/>
          <a:p>
            <a:r>
              <a:t>Thank you. I am happy to take questions, and the app is running live if you would like to see anything specific.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C100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874519"/>
            <a:ext cx="7315200" cy="320040"/>
          </a:xfrm>
          <a:prstGeom prst="rect">
            <a:avLst/>
          </a:prstGeom>
          <a:noFill/>
        </p:spPr>
        <p:txBody>
          <a:bodyPr wrap="square" lIns="0" rIns="0" tIns="0" bIns="0" anchor="t">
            <a:spAutoFit/>
          </a:bodyPr>
          <a:lstStyle/>
          <a:p>
            <a:pPr algn="l">
              <a:lnSpc>
                <a:spcPct val="100000"/>
              </a:lnSpc>
              <a:spcAft>
                <a:spcPts val="0"/>
              </a:spcAft>
            </a:pPr>
            <a:r>
              <a:rPr sz="1200" b="1">
                <a:solidFill>
                  <a:srgbClr val="A8E063"/>
                </a:solidFill>
                <a:latin typeface="Segoe UI Semibold"/>
              </a:rPr>
              <a:t>B.Sc. THESIS DEFENCE  ·  SOFTWARE ENGINEERING</a:t>
            </a:r>
          </a:p>
        </p:txBody>
      </p:sp>
      <p:sp>
        <p:nvSpPr>
          <p:cNvPr id="5" name="TextBox 4"/>
          <p:cNvSpPr txBox="1"/>
          <p:nvPr/>
        </p:nvSpPr>
        <p:spPr>
          <a:xfrm>
            <a:off x="1005840" y="2331720"/>
            <a:ext cx="9692640" cy="1828800"/>
          </a:xfrm>
          <a:prstGeom prst="rect">
            <a:avLst/>
          </a:prstGeom>
          <a:noFill/>
        </p:spPr>
        <p:txBody>
          <a:bodyPr wrap="square" lIns="0" rIns="0" tIns="0" bIns="0" anchor="t">
            <a:spAutoFit/>
          </a:bodyPr>
          <a:lstStyle/>
          <a:p>
            <a:pPr algn="l">
              <a:lnSpc>
                <a:spcPct val="100000"/>
              </a:lnSpc>
              <a:spcAft>
                <a:spcPts val="0"/>
              </a:spcAft>
            </a:pPr>
            <a:r>
              <a:rPr sz="6800" b="1">
                <a:solidFill>
                  <a:srgbClr val="F5F7F4"/>
                </a:solidFill>
                <a:latin typeface="Segoe UI Semibold"/>
              </a:rPr>
              <a:t>KooGYMaa</a:t>
            </a:r>
          </a:p>
        </p:txBody>
      </p:sp>
      <p:sp>
        <p:nvSpPr>
          <p:cNvPr id="6" name="TextBox 5"/>
          <p:cNvSpPr txBox="1"/>
          <p:nvPr/>
        </p:nvSpPr>
        <p:spPr>
          <a:xfrm>
            <a:off x="1005840" y="3364992"/>
            <a:ext cx="10058400" cy="822960"/>
          </a:xfrm>
          <a:prstGeom prst="rect">
            <a:avLst/>
          </a:prstGeom>
          <a:noFill/>
        </p:spPr>
        <p:txBody>
          <a:bodyPr wrap="square" lIns="0" rIns="0" tIns="0" bIns="0" anchor="t">
            <a:spAutoFit/>
          </a:bodyPr>
          <a:lstStyle/>
          <a:p>
            <a:pPr algn="l">
              <a:lnSpc>
                <a:spcPct val="115000"/>
              </a:lnSpc>
              <a:spcAft>
                <a:spcPts val="0"/>
              </a:spcAft>
            </a:pPr>
            <a:r>
              <a:rPr sz="2500" b="0">
                <a:solidFill>
                  <a:srgbClr val="F5F7F4"/>
                </a:solidFill>
                <a:latin typeface="Segoe UI"/>
              </a:rPr>
              <a:t>An Integrated Platform for Gyms, Trainers and Athletes</a:t>
            </a:r>
          </a:p>
        </p:txBody>
      </p:sp>
      <p:sp>
        <p:nvSpPr>
          <p:cNvPr id="7" name="Rectangle 6"/>
          <p:cNvSpPr/>
          <p:nvPr/>
        </p:nvSpPr>
        <p:spPr>
          <a:xfrm>
            <a:off x="1033271" y="4224528"/>
            <a:ext cx="822960" cy="5080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526280"/>
            <a:ext cx="8778240" cy="822960"/>
          </a:xfrm>
          <a:prstGeom prst="rect">
            <a:avLst/>
          </a:prstGeom>
          <a:noFill/>
        </p:spPr>
        <p:txBody>
          <a:bodyPr wrap="square" lIns="0" rIns="0" tIns="0" bIns="0" anchor="t">
            <a:spAutoFit/>
          </a:bodyPr>
          <a:lstStyle/>
          <a:p>
            <a:pPr algn="l">
              <a:lnSpc>
                <a:spcPct val="100000"/>
              </a:lnSpc>
              <a:spcAft>
                <a:spcPts val="0"/>
              </a:spcAft>
            </a:pPr>
            <a:r>
              <a:rPr sz="1400" b="0">
                <a:solidFill>
                  <a:srgbClr val="9AA59D"/>
                </a:solidFill>
                <a:latin typeface="Segoe UI"/>
              </a:rPr>
              <a:t>Next.js 16  ·  React 19  ·  TypeScript  ·  Prisma  ·  SQLite / Turso</a:t>
            </a:r>
          </a:p>
        </p:txBody>
      </p:sp>
      <p:sp>
        <p:nvSpPr>
          <p:cNvPr id="9" name="TextBox 8"/>
          <p:cNvSpPr txBox="1"/>
          <p:nvPr/>
        </p:nvSpPr>
        <p:spPr>
          <a:xfrm>
            <a:off x="1005840" y="5760720"/>
            <a:ext cx="5486400" cy="548640"/>
          </a:xfrm>
          <a:prstGeom prst="rect">
            <a:avLst/>
          </a:prstGeom>
          <a:noFill/>
        </p:spPr>
        <p:txBody>
          <a:bodyPr wrap="square" lIns="0" rIns="0" tIns="0" bIns="0" anchor="t">
            <a:spAutoFit/>
          </a:bodyPr>
          <a:lstStyle/>
          <a:p>
            <a:pPr algn="l">
              <a:lnSpc>
                <a:spcPct val="135000"/>
              </a:lnSpc>
              <a:spcAft>
                <a:spcPts val="0"/>
              </a:spcAft>
            </a:pPr>
            <a:r>
              <a:rPr sz="1200" b="0">
                <a:solidFill>
                  <a:srgbClr val="9AA59D"/>
                </a:solidFill>
                <a:latin typeface="Segoe UI"/>
              </a:rPr>
              <a:t>Author:  ____________________</a:t>
            </a:r>
          </a:p>
          <a:p>
            <a:pPr algn="l">
              <a:lnSpc>
                <a:spcPct val="135000"/>
              </a:lnSpc>
              <a:spcAft>
                <a:spcPts val="0"/>
              </a:spcAft>
            </a:pPr>
            <a:r>
              <a:rPr sz="1200" b="0">
                <a:solidFill>
                  <a:srgbClr val="9AA59D"/>
                </a:solidFill>
                <a:latin typeface="Segoe UI"/>
              </a:rPr>
              <a:t>Supervisor:  ____________________</a:t>
            </a:r>
          </a:p>
        </p:txBody>
      </p:sp>
      <p:sp>
        <p:nvSpPr>
          <p:cNvPr id="10" name="TextBox 9"/>
          <p:cNvSpPr txBox="1"/>
          <p:nvPr/>
        </p:nvSpPr>
        <p:spPr>
          <a:xfrm>
            <a:off x="8595360" y="5760720"/>
            <a:ext cx="2651760" cy="548640"/>
          </a:xfrm>
          <a:prstGeom prst="rect">
            <a:avLst/>
          </a:prstGeom>
          <a:noFill/>
        </p:spPr>
        <p:txBody>
          <a:bodyPr wrap="square" lIns="0" rIns="0" tIns="0" bIns="0" anchor="t">
            <a:spAutoFit/>
          </a:bodyPr>
          <a:lstStyle/>
          <a:p>
            <a:pPr algn="r">
              <a:lnSpc>
                <a:spcPct val="135000"/>
              </a:lnSpc>
              <a:spcAft>
                <a:spcPts val="0"/>
              </a:spcAft>
            </a:pPr>
            <a:r>
              <a:rPr sz="1100" b="0">
                <a:solidFill>
                  <a:srgbClr val="9AA59D"/>
                </a:solidFill>
                <a:latin typeface="Segoe UI"/>
              </a:rPr>
              <a:t>Faculty of Electrical &amp; Computer Engineering</a:t>
            </a:r>
          </a:p>
          <a:p>
            <a:pPr algn="r">
              <a:lnSpc>
                <a:spcPct val="135000"/>
              </a:lnSpc>
              <a:spcAft>
                <a:spcPts val="0"/>
              </a:spcAft>
            </a:pPr>
            <a:r>
              <a:rPr sz="1100" b="0">
                <a:solidFill>
                  <a:srgbClr val="9AA59D"/>
                </a:solidFill>
                <a:latin typeface="Segoe UI"/>
              </a:rPr>
              <a:t>Semnan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15 MINUTES</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Agenda</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22960" y="2148840"/>
            <a:ext cx="5029200" cy="27432"/>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2350008"/>
            <a:ext cx="4937760" cy="365760"/>
          </a:xfrm>
          <a:prstGeom prst="rect">
            <a:avLst/>
          </a:prstGeom>
          <a:noFill/>
        </p:spPr>
        <p:txBody>
          <a:bodyPr wrap="square" lIns="0" rIns="0" tIns="0" bIns="0" anchor="t">
            <a:spAutoFit/>
          </a:bodyPr>
          <a:lstStyle/>
          <a:p>
            <a:pPr algn="l">
              <a:lnSpc>
                <a:spcPct val="100000"/>
              </a:lnSpc>
              <a:spcAft>
                <a:spcPts val="0"/>
              </a:spcAft>
            </a:pPr>
            <a:r>
              <a:rPr sz="2100" b="1">
                <a:solidFill>
                  <a:srgbClr val="F5F7F4"/>
                </a:solidFill>
                <a:latin typeface="Segoe UI Semibold"/>
              </a:rPr>
              <a:t>1.  The problem</a:t>
            </a:r>
          </a:p>
        </p:txBody>
      </p:sp>
      <p:sp>
        <p:nvSpPr>
          <p:cNvPr id="8" name="TextBox 7"/>
          <p:cNvSpPr txBox="1"/>
          <p:nvPr/>
        </p:nvSpPr>
        <p:spPr>
          <a:xfrm>
            <a:off x="822960" y="2752344"/>
            <a:ext cx="4937760" cy="320040"/>
          </a:xfrm>
          <a:prstGeom prst="rect">
            <a:avLst/>
          </a:prstGeom>
          <a:noFill/>
        </p:spPr>
        <p:txBody>
          <a:bodyPr wrap="square" lIns="0" rIns="0" tIns="0" bIns="0" anchor="t">
            <a:spAutoFit/>
          </a:bodyPr>
          <a:lstStyle/>
          <a:p>
            <a:pPr algn="l">
              <a:lnSpc>
                <a:spcPct val="100000"/>
              </a:lnSpc>
              <a:spcAft>
                <a:spcPts val="0"/>
              </a:spcAft>
            </a:pPr>
            <a:r>
              <a:rPr sz="1250" b="0">
                <a:solidFill>
                  <a:srgbClr val="9AA59D"/>
                </a:solidFill>
                <a:latin typeface="Segoe UI"/>
              </a:rPr>
              <a:t>Why gyms still run on paper and chat apps</a:t>
            </a:r>
          </a:p>
        </p:txBody>
      </p:sp>
      <p:sp>
        <p:nvSpPr>
          <p:cNvPr id="9" name="Rectangle 8"/>
          <p:cNvSpPr/>
          <p:nvPr/>
        </p:nvSpPr>
        <p:spPr>
          <a:xfrm>
            <a:off x="822960" y="3291840"/>
            <a:ext cx="5029200" cy="27432"/>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3493008"/>
            <a:ext cx="4937760" cy="365760"/>
          </a:xfrm>
          <a:prstGeom prst="rect">
            <a:avLst/>
          </a:prstGeom>
          <a:noFill/>
        </p:spPr>
        <p:txBody>
          <a:bodyPr wrap="square" lIns="0" rIns="0" tIns="0" bIns="0" anchor="t">
            <a:spAutoFit/>
          </a:bodyPr>
          <a:lstStyle/>
          <a:p>
            <a:pPr algn="l">
              <a:lnSpc>
                <a:spcPct val="100000"/>
              </a:lnSpc>
              <a:spcAft>
                <a:spcPts val="0"/>
              </a:spcAft>
            </a:pPr>
            <a:r>
              <a:rPr sz="2100" b="1">
                <a:solidFill>
                  <a:srgbClr val="F5F7F4"/>
                </a:solidFill>
                <a:latin typeface="Segoe UI Semibold"/>
              </a:rPr>
              <a:t>2.  The solution</a:t>
            </a:r>
          </a:p>
        </p:txBody>
      </p:sp>
      <p:sp>
        <p:nvSpPr>
          <p:cNvPr id="11" name="TextBox 10"/>
          <p:cNvSpPr txBox="1"/>
          <p:nvPr/>
        </p:nvSpPr>
        <p:spPr>
          <a:xfrm>
            <a:off x="822960" y="3895344"/>
            <a:ext cx="4937760" cy="320040"/>
          </a:xfrm>
          <a:prstGeom prst="rect">
            <a:avLst/>
          </a:prstGeom>
          <a:noFill/>
        </p:spPr>
        <p:txBody>
          <a:bodyPr wrap="square" lIns="0" rIns="0" tIns="0" bIns="0" anchor="t">
            <a:spAutoFit/>
          </a:bodyPr>
          <a:lstStyle/>
          <a:p>
            <a:pPr algn="l">
              <a:lnSpc>
                <a:spcPct val="100000"/>
              </a:lnSpc>
              <a:spcAft>
                <a:spcPts val="0"/>
              </a:spcAft>
            </a:pPr>
            <a:r>
              <a:rPr sz="1250" b="0">
                <a:solidFill>
                  <a:srgbClr val="9AA59D"/>
                </a:solidFill>
                <a:latin typeface="Segoe UI"/>
              </a:rPr>
              <a:t>One platform, three roles</a:t>
            </a:r>
          </a:p>
        </p:txBody>
      </p:sp>
      <p:sp>
        <p:nvSpPr>
          <p:cNvPr id="12" name="Rectangle 11"/>
          <p:cNvSpPr/>
          <p:nvPr/>
        </p:nvSpPr>
        <p:spPr>
          <a:xfrm>
            <a:off x="822960" y="4434840"/>
            <a:ext cx="5029200" cy="27432"/>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2960" y="4636008"/>
            <a:ext cx="4937760" cy="365760"/>
          </a:xfrm>
          <a:prstGeom prst="rect">
            <a:avLst/>
          </a:prstGeom>
          <a:noFill/>
        </p:spPr>
        <p:txBody>
          <a:bodyPr wrap="square" lIns="0" rIns="0" tIns="0" bIns="0" anchor="t">
            <a:spAutoFit/>
          </a:bodyPr>
          <a:lstStyle/>
          <a:p>
            <a:pPr algn="l">
              <a:lnSpc>
                <a:spcPct val="100000"/>
              </a:lnSpc>
              <a:spcAft>
                <a:spcPts val="0"/>
              </a:spcAft>
            </a:pPr>
            <a:r>
              <a:rPr sz="2100" b="1">
                <a:solidFill>
                  <a:srgbClr val="F5F7F4"/>
                </a:solidFill>
                <a:latin typeface="Segoe UI Semibold"/>
              </a:rPr>
              <a:t>3.  Architecture &amp; data model</a:t>
            </a:r>
          </a:p>
        </p:txBody>
      </p:sp>
      <p:sp>
        <p:nvSpPr>
          <p:cNvPr id="14" name="TextBox 13"/>
          <p:cNvSpPr txBox="1"/>
          <p:nvPr/>
        </p:nvSpPr>
        <p:spPr>
          <a:xfrm>
            <a:off x="822960" y="5038344"/>
            <a:ext cx="4937760" cy="320040"/>
          </a:xfrm>
          <a:prstGeom prst="rect">
            <a:avLst/>
          </a:prstGeom>
          <a:noFill/>
        </p:spPr>
        <p:txBody>
          <a:bodyPr wrap="square" lIns="0" rIns="0" tIns="0" bIns="0" anchor="t">
            <a:spAutoFit/>
          </a:bodyPr>
          <a:lstStyle/>
          <a:p>
            <a:pPr algn="l">
              <a:lnSpc>
                <a:spcPct val="100000"/>
              </a:lnSpc>
              <a:spcAft>
                <a:spcPts val="0"/>
              </a:spcAft>
            </a:pPr>
            <a:r>
              <a:rPr sz="1250" b="0">
                <a:solidFill>
                  <a:srgbClr val="9AA59D"/>
                </a:solidFill>
                <a:latin typeface="Segoe UI"/>
              </a:rPr>
              <a:t>How it is built</a:t>
            </a:r>
          </a:p>
        </p:txBody>
      </p:sp>
      <p:sp>
        <p:nvSpPr>
          <p:cNvPr id="15" name="Rectangle 14"/>
          <p:cNvSpPr/>
          <p:nvPr/>
        </p:nvSpPr>
        <p:spPr>
          <a:xfrm>
            <a:off x="6309360" y="2148840"/>
            <a:ext cx="5029200" cy="27432"/>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09360" y="2350008"/>
            <a:ext cx="4937760" cy="365760"/>
          </a:xfrm>
          <a:prstGeom prst="rect">
            <a:avLst/>
          </a:prstGeom>
          <a:noFill/>
        </p:spPr>
        <p:txBody>
          <a:bodyPr wrap="square" lIns="0" rIns="0" tIns="0" bIns="0" anchor="t">
            <a:spAutoFit/>
          </a:bodyPr>
          <a:lstStyle/>
          <a:p>
            <a:pPr algn="l">
              <a:lnSpc>
                <a:spcPct val="100000"/>
              </a:lnSpc>
              <a:spcAft>
                <a:spcPts val="0"/>
              </a:spcAft>
            </a:pPr>
            <a:r>
              <a:rPr sz="2100" b="1">
                <a:solidFill>
                  <a:srgbClr val="F5F7F4"/>
                </a:solidFill>
                <a:latin typeface="Segoe UI Semibold"/>
              </a:rPr>
              <a:t>4.  Live walkthrough</a:t>
            </a:r>
          </a:p>
        </p:txBody>
      </p:sp>
      <p:sp>
        <p:nvSpPr>
          <p:cNvPr id="17" name="TextBox 16"/>
          <p:cNvSpPr txBox="1"/>
          <p:nvPr/>
        </p:nvSpPr>
        <p:spPr>
          <a:xfrm>
            <a:off x="6309360" y="2752344"/>
            <a:ext cx="4937760" cy="320040"/>
          </a:xfrm>
          <a:prstGeom prst="rect">
            <a:avLst/>
          </a:prstGeom>
          <a:noFill/>
        </p:spPr>
        <p:txBody>
          <a:bodyPr wrap="square" lIns="0" rIns="0" tIns="0" bIns="0" anchor="t">
            <a:spAutoFit/>
          </a:bodyPr>
          <a:lstStyle/>
          <a:p>
            <a:pPr algn="l">
              <a:lnSpc>
                <a:spcPct val="100000"/>
              </a:lnSpc>
              <a:spcAft>
                <a:spcPts val="0"/>
              </a:spcAft>
            </a:pPr>
            <a:r>
              <a:rPr sz="1250" b="0">
                <a:solidFill>
                  <a:srgbClr val="9AA59D"/>
                </a:solidFill>
                <a:latin typeface="Segoe UI"/>
              </a:rPr>
              <a:t>Member → Trainer → Gym owner</a:t>
            </a:r>
          </a:p>
        </p:txBody>
      </p:sp>
      <p:sp>
        <p:nvSpPr>
          <p:cNvPr id="18" name="Rectangle 17"/>
          <p:cNvSpPr/>
          <p:nvPr/>
        </p:nvSpPr>
        <p:spPr>
          <a:xfrm>
            <a:off x="6309360" y="3291840"/>
            <a:ext cx="5029200" cy="27432"/>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09360" y="3493008"/>
            <a:ext cx="4937760" cy="365760"/>
          </a:xfrm>
          <a:prstGeom prst="rect">
            <a:avLst/>
          </a:prstGeom>
          <a:noFill/>
        </p:spPr>
        <p:txBody>
          <a:bodyPr wrap="square" lIns="0" rIns="0" tIns="0" bIns="0" anchor="t">
            <a:spAutoFit/>
          </a:bodyPr>
          <a:lstStyle/>
          <a:p>
            <a:pPr algn="l">
              <a:lnSpc>
                <a:spcPct val="100000"/>
              </a:lnSpc>
              <a:spcAft>
                <a:spcPts val="0"/>
              </a:spcAft>
            </a:pPr>
            <a:r>
              <a:rPr sz="2100" b="1">
                <a:solidFill>
                  <a:srgbClr val="F5F7F4"/>
                </a:solidFill>
                <a:latin typeface="Segoe UI Semibold"/>
              </a:rPr>
              <a:t>5.  Security &amp; quality</a:t>
            </a:r>
          </a:p>
        </p:txBody>
      </p:sp>
      <p:sp>
        <p:nvSpPr>
          <p:cNvPr id="20" name="TextBox 19"/>
          <p:cNvSpPr txBox="1"/>
          <p:nvPr/>
        </p:nvSpPr>
        <p:spPr>
          <a:xfrm>
            <a:off x="6309360" y="3895344"/>
            <a:ext cx="4937760" cy="320040"/>
          </a:xfrm>
          <a:prstGeom prst="rect">
            <a:avLst/>
          </a:prstGeom>
          <a:noFill/>
        </p:spPr>
        <p:txBody>
          <a:bodyPr wrap="square" lIns="0" rIns="0" tIns="0" bIns="0" anchor="t">
            <a:spAutoFit/>
          </a:bodyPr>
          <a:lstStyle/>
          <a:p>
            <a:pPr algn="l">
              <a:lnSpc>
                <a:spcPct val="100000"/>
              </a:lnSpc>
              <a:spcAft>
                <a:spcPts val="0"/>
              </a:spcAft>
            </a:pPr>
            <a:r>
              <a:rPr sz="1250" b="0">
                <a:solidFill>
                  <a:srgbClr val="9AA59D"/>
                </a:solidFill>
                <a:latin typeface="Segoe UI"/>
              </a:rPr>
              <a:t>Access control, payments, tests</a:t>
            </a:r>
          </a:p>
        </p:txBody>
      </p:sp>
      <p:sp>
        <p:nvSpPr>
          <p:cNvPr id="21" name="Rectangle 20"/>
          <p:cNvSpPr/>
          <p:nvPr/>
        </p:nvSpPr>
        <p:spPr>
          <a:xfrm>
            <a:off x="6309360" y="4434840"/>
            <a:ext cx="5029200" cy="27432"/>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09360" y="4636008"/>
            <a:ext cx="4937760" cy="365760"/>
          </a:xfrm>
          <a:prstGeom prst="rect">
            <a:avLst/>
          </a:prstGeom>
          <a:noFill/>
        </p:spPr>
        <p:txBody>
          <a:bodyPr wrap="square" lIns="0" rIns="0" tIns="0" bIns="0" anchor="t">
            <a:spAutoFit/>
          </a:bodyPr>
          <a:lstStyle/>
          <a:p>
            <a:pPr algn="l">
              <a:lnSpc>
                <a:spcPct val="100000"/>
              </a:lnSpc>
              <a:spcAft>
                <a:spcPts val="0"/>
              </a:spcAft>
            </a:pPr>
            <a:r>
              <a:rPr sz="2100" b="1">
                <a:solidFill>
                  <a:srgbClr val="F5F7F4"/>
                </a:solidFill>
                <a:latin typeface="Segoe UI Semibold"/>
              </a:rPr>
              <a:t>6.  Results &amp; future work</a:t>
            </a:r>
          </a:p>
        </p:txBody>
      </p:sp>
      <p:sp>
        <p:nvSpPr>
          <p:cNvPr id="23" name="TextBox 22"/>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4" name="TextBox 23"/>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CONTEXT</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The problem</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55064"/>
            <a:ext cx="10424160" cy="457200"/>
          </a:xfrm>
          <a:prstGeom prst="rect">
            <a:avLst/>
          </a:prstGeom>
          <a:noFill/>
        </p:spPr>
        <p:txBody>
          <a:bodyPr wrap="square" lIns="0" rIns="0" tIns="0" bIns="0" anchor="t">
            <a:spAutoFit/>
          </a:bodyPr>
          <a:lstStyle/>
          <a:p>
            <a:pPr algn="l">
              <a:lnSpc>
                <a:spcPct val="100000"/>
              </a:lnSpc>
              <a:spcAft>
                <a:spcPts val="0"/>
              </a:spcAft>
            </a:pPr>
            <a:r>
              <a:rPr sz="1500" b="0">
                <a:solidFill>
                  <a:srgbClr val="9AA59D"/>
                </a:solidFill>
                <a:latin typeface="Segoe UI"/>
              </a:rPr>
              <a:t>Gym operations, coaching and athlete progress live in three disconnected worlds.</a:t>
            </a:r>
          </a:p>
        </p:txBody>
      </p:sp>
      <p:sp>
        <p:nvSpPr>
          <p:cNvPr id="7" name="Rectangle 6"/>
          <p:cNvSpPr/>
          <p:nvPr/>
        </p:nvSpPr>
        <p:spPr>
          <a:xfrm>
            <a:off x="777240" y="2331720"/>
            <a:ext cx="5029200" cy="132588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69848" y="2624328"/>
            <a:ext cx="4443984"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Paper &amp; spreadsheets</a:t>
            </a:r>
          </a:p>
        </p:txBody>
      </p:sp>
      <p:sp>
        <p:nvSpPr>
          <p:cNvPr id="9" name="TextBox 8"/>
          <p:cNvSpPr txBox="1"/>
          <p:nvPr/>
        </p:nvSpPr>
        <p:spPr>
          <a:xfrm>
            <a:off x="1069848" y="2926080"/>
            <a:ext cx="4443984" cy="667512"/>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Memberships, renewals and cash tracked by hand</a:t>
            </a:r>
          </a:p>
        </p:txBody>
      </p:sp>
      <p:sp>
        <p:nvSpPr>
          <p:cNvPr id="10" name="Rectangle 9"/>
          <p:cNvSpPr/>
          <p:nvPr/>
        </p:nvSpPr>
        <p:spPr>
          <a:xfrm>
            <a:off x="6217920" y="2331720"/>
            <a:ext cx="5029200" cy="132588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10528" y="2624328"/>
            <a:ext cx="4443984"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Chat apps as a coaching tool</a:t>
            </a:r>
          </a:p>
        </p:txBody>
      </p:sp>
      <p:sp>
        <p:nvSpPr>
          <p:cNvPr id="12" name="TextBox 11"/>
          <p:cNvSpPr txBox="1"/>
          <p:nvPr/>
        </p:nvSpPr>
        <p:spPr>
          <a:xfrm>
            <a:off x="6510528" y="2926080"/>
            <a:ext cx="4443984" cy="667512"/>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Plans sent as photos and PDFs, lost in scroll</a:t>
            </a:r>
          </a:p>
        </p:txBody>
      </p:sp>
      <p:sp>
        <p:nvSpPr>
          <p:cNvPr id="13" name="Rectangle 12"/>
          <p:cNvSpPr/>
          <p:nvPr/>
        </p:nvSpPr>
        <p:spPr>
          <a:xfrm>
            <a:off x="777240" y="3931920"/>
            <a:ext cx="5029200" cy="132588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69848" y="4224528"/>
            <a:ext cx="4443984"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No progress history</a:t>
            </a:r>
          </a:p>
        </p:txBody>
      </p:sp>
      <p:sp>
        <p:nvSpPr>
          <p:cNvPr id="15" name="TextBox 14"/>
          <p:cNvSpPr txBox="1"/>
          <p:nvPr/>
        </p:nvSpPr>
        <p:spPr>
          <a:xfrm>
            <a:off x="1069848" y="4526280"/>
            <a:ext cx="4443984" cy="667512"/>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Nothing to compare, nothing to prove</a:t>
            </a:r>
          </a:p>
        </p:txBody>
      </p:sp>
      <p:sp>
        <p:nvSpPr>
          <p:cNvPr id="16" name="Rectangle 15"/>
          <p:cNvSpPr/>
          <p:nvPr/>
        </p:nvSpPr>
        <p:spPr>
          <a:xfrm>
            <a:off x="6217920" y="3931920"/>
            <a:ext cx="5029200" cy="132588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10528" y="4224528"/>
            <a:ext cx="4443984"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Blind business decisions</a:t>
            </a:r>
          </a:p>
        </p:txBody>
      </p:sp>
      <p:sp>
        <p:nvSpPr>
          <p:cNvPr id="18" name="TextBox 17"/>
          <p:cNvSpPr txBox="1"/>
          <p:nvPr/>
        </p:nvSpPr>
        <p:spPr>
          <a:xfrm>
            <a:off x="6510528" y="4526280"/>
            <a:ext cx="4443984" cy="667512"/>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No revenue, retention or expiry visibility</a:t>
            </a:r>
          </a:p>
        </p:txBody>
      </p:sp>
      <p:sp>
        <p:nvSpPr>
          <p:cNvPr id="19" name="TextBox 18"/>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0" name="TextBox 19"/>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THE SOLUTION</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One platform, three roles</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77240" y="2240280"/>
            <a:ext cx="3291840" cy="301752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7240" y="2240280"/>
            <a:ext cx="3291840"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97280" y="2578608"/>
            <a:ext cx="27432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MEMBER</a:t>
            </a:r>
          </a:p>
        </p:txBody>
      </p:sp>
      <p:sp>
        <p:nvSpPr>
          <p:cNvPr id="9" name="TextBox 8"/>
          <p:cNvSpPr txBox="1"/>
          <p:nvPr/>
        </p:nvSpPr>
        <p:spPr>
          <a:xfrm>
            <a:off x="1097280" y="2944368"/>
            <a:ext cx="2743200" cy="457200"/>
          </a:xfrm>
          <a:prstGeom prst="rect">
            <a:avLst/>
          </a:prstGeom>
          <a:noFill/>
        </p:spPr>
        <p:txBody>
          <a:bodyPr wrap="square" lIns="0" rIns="0" tIns="0" bIns="0" anchor="t">
            <a:spAutoFit/>
          </a:bodyPr>
          <a:lstStyle/>
          <a:p>
            <a:pPr algn="l">
              <a:lnSpc>
                <a:spcPct val="100000"/>
              </a:lnSpc>
              <a:spcAft>
                <a:spcPts val="0"/>
              </a:spcAft>
            </a:pPr>
            <a:r>
              <a:rPr sz="2400" b="1">
                <a:solidFill>
                  <a:srgbClr val="F5F7F4"/>
                </a:solidFill>
                <a:latin typeface="Segoe UI Semibold"/>
              </a:rPr>
              <a:t>Train &amp; track</a:t>
            </a:r>
          </a:p>
        </p:txBody>
      </p:sp>
      <p:sp>
        <p:nvSpPr>
          <p:cNvPr id="10" name="TextBox 9"/>
          <p:cNvSpPr txBox="1"/>
          <p:nvPr/>
        </p:nvSpPr>
        <p:spPr>
          <a:xfrm>
            <a:off x="1097280" y="3611880"/>
            <a:ext cx="2743200" cy="1280160"/>
          </a:xfrm>
          <a:prstGeom prst="rect">
            <a:avLst/>
          </a:prstGeom>
          <a:noFill/>
        </p:spPr>
        <p:txBody>
          <a:bodyPr wrap="square" lIns="0" rIns="0" tIns="0" bIns="0" anchor="t">
            <a:spAutoFit/>
          </a:bodyPr>
          <a:lstStyle/>
          <a:p>
            <a:pPr algn="l">
              <a:lnSpc>
                <a:spcPct val="130000"/>
              </a:lnSpc>
              <a:spcAft>
                <a:spcPts val="0"/>
              </a:spcAft>
            </a:pPr>
            <a:r>
              <a:rPr sz="1300" b="0">
                <a:solidFill>
                  <a:srgbClr val="9AA59D"/>
                </a:solidFill>
                <a:latin typeface="Segoe UI"/>
              </a:rPr>
              <a:t>Find a gym, subscribe, follow plans,</a:t>
            </a:r>
          </a:p>
          <a:p>
            <a:pPr algn="l">
              <a:lnSpc>
                <a:spcPct val="130000"/>
              </a:lnSpc>
              <a:spcAft>
                <a:spcPts val="0"/>
              </a:spcAft>
            </a:pPr>
            <a:r>
              <a:rPr sz="1300" b="0">
                <a:solidFill>
                  <a:srgbClr val="9AA59D"/>
                </a:solidFill>
                <a:latin typeface="Segoe UI"/>
              </a:rPr>
              <a:t>log workouts, meals and body metrics</a:t>
            </a:r>
          </a:p>
        </p:txBody>
      </p:sp>
      <p:sp>
        <p:nvSpPr>
          <p:cNvPr id="11" name="Rectangle 10"/>
          <p:cNvSpPr/>
          <p:nvPr/>
        </p:nvSpPr>
        <p:spPr>
          <a:xfrm>
            <a:off x="4389120" y="2240280"/>
            <a:ext cx="3291840" cy="301752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89120" y="2240280"/>
            <a:ext cx="3291840"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709160" y="2578608"/>
            <a:ext cx="27432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TRAINER</a:t>
            </a:r>
          </a:p>
        </p:txBody>
      </p:sp>
      <p:sp>
        <p:nvSpPr>
          <p:cNvPr id="14" name="TextBox 13"/>
          <p:cNvSpPr txBox="1"/>
          <p:nvPr/>
        </p:nvSpPr>
        <p:spPr>
          <a:xfrm>
            <a:off x="4709160" y="2944368"/>
            <a:ext cx="2743200" cy="457200"/>
          </a:xfrm>
          <a:prstGeom prst="rect">
            <a:avLst/>
          </a:prstGeom>
          <a:noFill/>
        </p:spPr>
        <p:txBody>
          <a:bodyPr wrap="square" lIns="0" rIns="0" tIns="0" bIns="0" anchor="t">
            <a:spAutoFit/>
          </a:bodyPr>
          <a:lstStyle/>
          <a:p>
            <a:pPr algn="l">
              <a:lnSpc>
                <a:spcPct val="100000"/>
              </a:lnSpc>
              <a:spcAft>
                <a:spcPts val="0"/>
              </a:spcAft>
            </a:pPr>
            <a:r>
              <a:rPr sz="2400" b="1">
                <a:solidFill>
                  <a:srgbClr val="F5F7F4"/>
                </a:solidFill>
                <a:latin typeface="Segoe UI Semibold"/>
              </a:rPr>
              <a:t>Coach &amp; assign</a:t>
            </a:r>
          </a:p>
        </p:txBody>
      </p:sp>
      <p:sp>
        <p:nvSpPr>
          <p:cNvPr id="15" name="TextBox 14"/>
          <p:cNvSpPr txBox="1"/>
          <p:nvPr/>
        </p:nvSpPr>
        <p:spPr>
          <a:xfrm>
            <a:off x="4709160" y="3611880"/>
            <a:ext cx="2743200" cy="1280160"/>
          </a:xfrm>
          <a:prstGeom prst="rect">
            <a:avLst/>
          </a:prstGeom>
          <a:noFill/>
        </p:spPr>
        <p:txBody>
          <a:bodyPr wrap="square" lIns="0" rIns="0" tIns="0" bIns="0" anchor="t">
            <a:spAutoFit/>
          </a:bodyPr>
          <a:lstStyle/>
          <a:p>
            <a:pPr algn="l">
              <a:lnSpc>
                <a:spcPct val="130000"/>
              </a:lnSpc>
              <a:spcAft>
                <a:spcPts val="0"/>
              </a:spcAft>
            </a:pPr>
            <a:r>
              <a:rPr sz="1300" b="0">
                <a:solidFill>
                  <a:srgbClr val="9AA59D"/>
                </a:solidFill>
                <a:latin typeface="Segoe UI"/>
              </a:rPr>
              <a:t>Build reusable workout and diet plans,</a:t>
            </a:r>
          </a:p>
          <a:p>
            <a:pPr algn="l">
              <a:lnSpc>
                <a:spcPct val="130000"/>
              </a:lnSpc>
              <a:spcAft>
                <a:spcPts val="0"/>
              </a:spcAft>
            </a:pPr>
            <a:r>
              <a:rPr sz="1300" b="0">
                <a:solidFill>
                  <a:srgbClr val="9AA59D"/>
                </a:solidFill>
                <a:latin typeface="Segoe UI"/>
              </a:rPr>
              <a:t>manage clients, sessions and feedback</a:t>
            </a:r>
          </a:p>
        </p:txBody>
      </p:sp>
      <p:sp>
        <p:nvSpPr>
          <p:cNvPr id="16" name="Rectangle 15"/>
          <p:cNvSpPr/>
          <p:nvPr/>
        </p:nvSpPr>
        <p:spPr>
          <a:xfrm>
            <a:off x="8001000" y="2240280"/>
            <a:ext cx="3291840" cy="301752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01000" y="2240280"/>
            <a:ext cx="3291840"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21040" y="2578608"/>
            <a:ext cx="27432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GYM OWNER</a:t>
            </a:r>
          </a:p>
        </p:txBody>
      </p:sp>
      <p:sp>
        <p:nvSpPr>
          <p:cNvPr id="19" name="TextBox 18"/>
          <p:cNvSpPr txBox="1"/>
          <p:nvPr/>
        </p:nvSpPr>
        <p:spPr>
          <a:xfrm>
            <a:off x="8321040" y="2944368"/>
            <a:ext cx="2743200" cy="457200"/>
          </a:xfrm>
          <a:prstGeom prst="rect">
            <a:avLst/>
          </a:prstGeom>
          <a:noFill/>
        </p:spPr>
        <p:txBody>
          <a:bodyPr wrap="square" lIns="0" rIns="0" tIns="0" bIns="0" anchor="t">
            <a:spAutoFit/>
          </a:bodyPr>
          <a:lstStyle/>
          <a:p>
            <a:pPr algn="l">
              <a:lnSpc>
                <a:spcPct val="100000"/>
              </a:lnSpc>
              <a:spcAft>
                <a:spcPts val="0"/>
              </a:spcAft>
            </a:pPr>
            <a:r>
              <a:rPr sz="2400" b="1">
                <a:solidFill>
                  <a:srgbClr val="F5F7F4"/>
                </a:solidFill>
                <a:latin typeface="Segoe UI Semibold"/>
              </a:rPr>
              <a:t>Operate &amp; sell</a:t>
            </a:r>
          </a:p>
        </p:txBody>
      </p:sp>
      <p:sp>
        <p:nvSpPr>
          <p:cNvPr id="20" name="TextBox 19"/>
          <p:cNvSpPr txBox="1"/>
          <p:nvPr/>
        </p:nvSpPr>
        <p:spPr>
          <a:xfrm>
            <a:off x="8321040" y="3611880"/>
            <a:ext cx="2743200" cy="1280160"/>
          </a:xfrm>
          <a:prstGeom prst="rect">
            <a:avLst/>
          </a:prstGeom>
          <a:noFill/>
        </p:spPr>
        <p:txBody>
          <a:bodyPr wrap="square" lIns="0" rIns="0" tIns="0" bIns="0" anchor="t">
            <a:spAutoFit/>
          </a:bodyPr>
          <a:lstStyle/>
          <a:p>
            <a:pPr algn="l">
              <a:lnSpc>
                <a:spcPct val="130000"/>
              </a:lnSpc>
              <a:spcAft>
                <a:spcPts val="0"/>
              </a:spcAft>
            </a:pPr>
            <a:r>
              <a:rPr sz="1300" b="0">
                <a:solidFill>
                  <a:srgbClr val="9AA59D"/>
                </a:solidFill>
                <a:latin typeface="Segoe UI"/>
              </a:rPr>
              <a:t>Approve members and trainers, sell plans,</a:t>
            </a:r>
          </a:p>
          <a:p>
            <a:pPr algn="l">
              <a:lnSpc>
                <a:spcPct val="130000"/>
              </a:lnSpc>
              <a:spcAft>
                <a:spcPts val="0"/>
              </a:spcAft>
            </a:pPr>
            <a:r>
              <a:rPr sz="1300" b="0">
                <a:solidFill>
                  <a:srgbClr val="9AA59D"/>
                </a:solidFill>
                <a:latin typeface="Segoe UI"/>
              </a:rPr>
              <a:t>track subscriptions, payments, revenue</a:t>
            </a:r>
          </a:p>
        </p:txBody>
      </p:sp>
      <p:sp>
        <p:nvSpPr>
          <p:cNvPr id="21" name="TextBox 20"/>
          <p:cNvSpPr txBox="1"/>
          <p:nvPr/>
        </p:nvSpPr>
        <p:spPr>
          <a:xfrm>
            <a:off x="777240" y="5715000"/>
            <a:ext cx="10515600" cy="365760"/>
          </a:xfrm>
          <a:prstGeom prst="rect">
            <a:avLst/>
          </a:prstGeom>
          <a:noFill/>
        </p:spPr>
        <p:txBody>
          <a:bodyPr wrap="square" lIns="0" rIns="0" tIns="0" bIns="0" anchor="t">
            <a:spAutoFit/>
          </a:bodyPr>
          <a:lstStyle/>
          <a:p>
            <a:pPr algn="l">
              <a:lnSpc>
                <a:spcPct val="100000"/>
              </a:lnSpc>
              <a:spcAft>
                <a:spcPts val="0"/>
              </a:spcAft>
            </a:pPr>
            <a:r>
              <a:rPr sz="1400" b="0">
                <a:solidFill>
                  <a:srgbClr val="F5F7F4"/>
                </a:solidFill>
                <a:latin typeface="Segoe UI"/>
              </a:rPr>
              <a:t>Every action one role takes becomes visible to the other two — in real time.</a:t>
            </a:r>
          </a:p>
        </p:txBody>
      </p:sp>
      <p:sp>
        <p:nvSpPr>
          <p:cNvPr id="22" name="TextBox 21"/>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3" name="TextBox 22"/>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AT A GLANCE</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Scope of the system</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77240" y="2377440"/>
            <a:ext cx="2487168" cy="219456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69848" y="2670048"/>
            <a:ext cx="1901952" cy="640080"/>
          </a:xfrm>
          <a:prstGeom prst="rect">
            <a:avLst/>
          </a:prstGeom>
          <a:noFill/>
        </p:spPr>
        <p:txBody>
          <a:bodyPr wrap="square" lIns="0" rIns="0" tIns="0" bIns="0" anchor="t">
            <a:spAutoFit/>
          </a:bodyPr>
          <a:lstStyle/>
          <a:p>
            <a:pPr algn="l">
              <a:lnSpc>
                <a:spcPct val="100000"/>
              </a:lnSpc>
              <a:spcAft>
                <a:spcPts val="0"/>
              </a:spcAft>
            </a:pPr>
            <a:r>
              <a:rPr sz="4000" b="1">
                <a:solidFill>
                  <a:srgbClr val="A8E063"/>
                </a:solidFill>
                <a:latin typeface="Segoe UI Semibold"/>
              </a:rPr>
              <a:t>33</a:t>
            </a:r>
          </a:p>
        </p:txBody>
      </p:sp>
      <p:sp>
        <p:nvSpPr>
          <p:cNvPr id="8" name="TextBox 7"/>
          <p:cNvSpPr txBox="1"/>
          <p:nvPr/>
        </p:nvSpPr>
        <p:spPr>
          <a:xfrm>
            <a:off x="1069848" y="3383280"/>
            <a:ext cx="1901952"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database models</a:t>
            </a:r>
          </a:p>
        </p:txBody>
      </p:sp>
      <p:sp>
        <p:nvSpPr>
          <p:cNvPr id="9" name="TextBox 8"/>
          <p:cNvSpPr txBox="1"/>
          <p:nvPr/>
        </p:nvSpPr>
        <p:spPr>
          <a:xfrm>
            <a:off x="1069848" y="3685032"/>
            <a:ext cx="1901952" cy="822960"/>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16 enums, fully relational</a:t>
            </a:r>
          </a:p>
        </p:txBody>
      </p:sp>
      <p:sp>
        <p:nvSpPr>
          <p:cNvPr id="10" name="Rectangle 9"/>
          <p:cNvSpPr/>
          <p:nvPr/>
        </p:nvSpPr>
        <p:spPr>
          <a:xfrm>
            <a:off x="3502152" y="2377440"/>
            <a:ext cx="2487168" cy="219456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794760" y="2670048"/>
            <a:ext cx="1901952" cy="640080"/>
          </a:xfrm>
          <a:prstGeom prst="rect">
            <a:avLst/>
          </a:prstGeom>
          <a:noFill/>
        </p:spPr>
        <p:txBody>
          <a:bodyPr wrap="square" lIns="0" rIns="0" tIns="0" bIns="0" anchor="t">
            <a:spAutoFit/>
          </a:bodyPr>
          <a:lstStyle/>
          <a:p>
            <a:pPr algn="l">
              <a:lnSpc>
                <a:spcPct val="100000"/>
              </a:lnSpc>
              <a:spcAft>
                <a:spcPts val="0"/>
              </a:spcAft>
            </a:pPr>
            <a:r>
              <a:rPr sz="4000" b="1">
                <a:solidFill>
                  <a:srgbClr val="A8E063"/>
                </a:solidFill>
                <a:latin typeface="Segoe UI Semibold"/>
              </a:rPr>
              <a:t>76</a:t>
            </a:r>
          </a:p>
        </p:txBody>
      </p:sp>
      <p:sp>
        <p:nvSpPr>
          <p:cNvPr id="12" name="TextBox 11"/>
          <p:cNvSpPr txBox="1"/>
          <p:nvPr/>
        </p:nvSpPr>
        <p:spPr>
          <a:xfrm>
            <a:off x="3794760" y="3383280"/>
            <a:ext cx="1901952"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API routes</a:t>
            </a:r>
          </a:p>
        </p:txBody>
      </p:sp>
      <p:sp>
        <p:nvSpPr>
          <p:cNvPr id="13" name="TextBox 12"/>
          <p:cNvSpPr txBox="1"/>
          <p:nvPr/>
        </p:nvSpPr>
        <p:spPr>
          <a:xfrm>
            <a:off x="3794760" y="3685032"/>
            <a:ext cx="1901952" cy="822960"/>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all validated server-side</a:t>
            </a:r>
          </a:p>
        </p:txBody>
      </p:sp>
      <p:sp>
        <p:nvSpPr>
          <p:cNvPr id="14" name="Rectangle 13"/>
          <p:cNvSpPr/>
          <p:nvPr/>
        </p:nvSpPr>
        <p:spPr>
          <a:xfrm>
            <a:off x="6227064" y="2377440"/>
            <a:ext cx="2487168" cy="219456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19672" y="2670048"/>
            <a:ext cx="1901952" cy="640080"/>
          </a:xfrm>
          <a:prstGeom prst="rect">
            <a:avLst/>
          </a:prstGeom>
          <a:noFill/>
        </p:spPr>
        <p:txBody>
          <a:bodyPr wrap="square" lIns="0" rIns="0" tIns="0" bIns="0" anchor="t">
            <a:spAutoFit/>
          </a:bodyPr>
          <a:lstStyle/>
          <a:p>
            <a:pPr algn="l">
              <a:lnSpc>
                <a:spcPct val="100000"/>
              </a:lnSpc>
              <a:spcAft>
                <a:spcPts val="0"/>
              </a:spcAft>
            </a:pPr>
            <a:r>
              <a:rPr sz="4000" b="1">
                <a:solidFill>
                  <a:srgbClr val="A8E063"/>
                </a:solidFill>
                <a:latin typeface="Segoe UI Semibold"/>
              </a:rPr>
              <a:t>3</a:t>
            </a:r>
          </a:p>
        </p:txBody>
      </p:sp>
      <p:sp>
        <p:nvSpPr>
          <p:cNvPr id="16" name="TextBox 15"/>
          <p:cNvSpPr txBox="1"/>
          <p:nvPr/>
        </p:nvSpPr>
        <p:spPr>
          <a:xfrm>
            <a:off x="6519672" y="3383280"/>
            <a:ext cx="1901952"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role workspaces</a:t>
            </a:r>
          </a:p>
        </p:txBody>
      </p:sp>
      <p:sp>
        <p:nvSpPr>
          <p:cNvPr id="17" name="TextBox 16"/>
          <p:cNvSpPr txBox="1"/>
          <p:nvPr/>
        </p:nvSpPr>
        <p:spPr>
          <a:xfrm>
            <a:off x="6519672" y="3685032"/>
            <a:ext cx="1901952" cy="822960"/>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admin · trainer · member</a:t>
            </a:r>
          </a:p>
        </p:txBody>
      </p:sp>
      <p:sp>
        <p:nvSpPr>
          <p:cNvPr id="18" name="Rectangle 17"/>
          <p:cNvSpPr/>
          <p:nvPr/>
        </p:nvSpPr>
        <p:spPr>
          <a:xfrm>
            <a:off x="8951976" y="2377440"/>
            <a:ext cx="2487168" cy="219456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244584" y="2670048"/>
            <a:ext cx="1901952" cy="640080"/>
          </a:xfrm>
          <a:prstGeom prst="rect">
            <a:avLst/>
          </a:prstGeom>
          <a:noFill/>
        </p:spPr>
        <p:txBody>
          <a:bodyPr wrap="square" lIns="0" rIns="0" tIns="0" bIns="0" anchor="t">
            <a:spAutoFit/>
          </a:bodyPr>
          <a:lstStyle/>
          <a:p>
            <a:pPr algn="l">
              <a:lnSpc>
                <a:spcPct val="100000"/>
              </a:lnSpc>
              <a:spcAft>
                <a:spcPts val="0"/>
              </a:spcAft>
            </a:pPr>
            <a:r>
              <a:rPr sz="4000" b="1">
                <a:solidFill>
                  <a:srgbClr val="A8E063"/>
                </a:solidFill>
                <a:latin typeface="Segoe UI Semibold"/>
              </a:rPr>
              <a:t>73</a:t>
            </a:r>
          </a:p>
        </p:txBody>
      </p:sp>
      <p:sp>
        <p:nvSpPr>
          <p:cNvPr id="20" name="TextBox 19"/>
          <p:cNvSpPr txBox="1"/>
          <p:nvPr/>
        </p:nvSpPr>
        <p:spPr>
          <a:xfrm>
            <a:off x="9244584" y="3383280"/>
            <a:ext cx="1901952"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automated tests</a:t>
            </a:r>
          </a:p>
        </p:txBody>
      </p:sp>
      <p:sp>
        <p:nvSpPr>
          <p:cNvPr id="21" name="TextBox 20"/>
          <p:cNvSpPr txBox="1"/>
          <p:nvPr/>
        </p:nvSpPr>
        <p:spPr>
          <a:xfrm>
            <a:off x="9244584" y="3685032"/>
            <a:ext cx="1901952" cy="822960"/>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typecheck + build green</a:t>
            </a:r>
          </a:p>
        </p:txBody>
      </p:sp>
      <p:sp>
        <p:nvSpPr>
          <p:cNvPr id="22" name="TextBox 21"/>
          <p:cNvSpPr txBox="1"/>
          <p:nvPr/>
        </p:nvSpPr>
        <p:spPr>
          <a:xfrm>
            <a:off x="777240" y="4983480"/>
            <a:ext cx="10515600" cy="365760"/>
          </a:xfrm>
          <a:prstGeom prst="rect">
            <a:avLst/>
          </a:prstGeom>
          <a:noFill/>
        </p:spPr>
        <p:txBody>
          <a:bodyPr wrap="square" lIns="0" rIns="0" tIns="0" bIns="0" anchor="t">
            <a:spAutoFit/>
          </a:bodyPr>
          <a:lstStyle/>
          <a:p>
            <a:pPr algn="l">
              <a:lnSpc>
                <a:spcPct val="100000"/>
              </a:lnSpc>
              <a:spcAft>
                <a:spcPts val="0"/>
              </a:spcAft>
            </a:pPr>
            <a:r>
              <a:rPr sz="1400" b="0">
                <a:solidFill>
                  <a:srgbClr val="9AA59D"/>
                </a:solidFill>
                <a:latin typeface="Segoe UI"/>
              </a:rPr>
              <a:t>Bilingual UI (English / Persian with full RTL), light &amp; dark theme, responsive down to mobile.</a:t>
            </a:r>
          </a:p>
        </p:txBody>
      </p:sp>
      <p:sp>
        <p:nvSpPr>
          <p:cNvPr id="23" name="TextBox 22"/>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4" name="TextBox 23"/>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HOW IT IS BUILT</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Technology stack</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2331720"/>
            <a:ext cx="1737360" cy="365760"/>
          </a:xfrm>
          <a:prstGeom prst="rect">
            <a:avLst/>
          </a:prstGeom>
          <a:noFill/>
        </p:spPr>
        <p:txBody>
          <a:bodyPr wrap="square" lIns="0" rIns="0" tIns="0" bIns="0" anchor="t">
            <a:spAutoFit/>
          </a:bodyPr>
          <a:lstStyle/>
          <a:p>
            <a:pPr algn="l">
              <a:lnSpc>
                <a:spcPct val="100000"/>
              </a:lnSpc>
              <a:spcAft>
                <a:spcPts val="0"/>
              </a:spcAft>
            </a:pPr>
            <a:r>
              <a:rPr sz="1500" b="1">
                <a:solidFill>
                  <a:srgbClr val="A8E063"/>
                </a:solidFill>
                <a:latin typeface="Segoe UI Semibold"/>
              </a:rPr>
              <a:t>Frontend</a:t>
            </a:r>
          </a:p>
        </p:txBody>
      </p:sp>
      <p:sp>
        <p:nvSpPr>
          <p:cNvPr id="7" name="Rounded Rectangle 6"/>
          <p:cNvSpPr/>
          <p:nvPr/>
        </p:nvSpPr>
        <p:spPr>
          <a:xfrm>
            <a:off x="2606040" y="2286000"/>
            <a:ext cx="2478024"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Next.js 16 App Router</a:t>
            </a:r>
          </a:p>
        </p:txBody>
      </p:sp>
      <p:sp>
        <p:nvSpPr>
          <p:cNvPr id="8" name="Rounded Rectangle 7"/>
          <p:cNvSpPr/>
          <p:nvPr/>
        </p:nvSpPr>
        <p:spPr>
          <a:xfrm>
            <a:off x="5212080" y="2286000"/>
            <a:ext cx="1170432"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React 19</a:t>
            </a:r>
          </a:p>
        </p:txBody>
      </p:sp>
      <p:sp>
        <p:nvSpPr>
          <p:cNvPr id="9" name="Rounded Rectangle 8"/>
          <p:cNvSpPr/>
          <p:nvPr/>
        </p:nvSpPr>
        <p:spPr>
          <a:xfrm>
            <a:off x="6510528" y="2286000"/>
            <a:ext cx="1371600"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TypeScript</a:t>
            </a:r>
          </a:p>
        </p:txBody>
      </p:sp>
      <p:sp>
        <p:nvSpPr>
          <p:cNvPr id="10" name="Rounded Rectangle 9"/>
          <p:cNvSpPr/>
          <p:nvPr/>
        </p:nvSpPr>
        <p:spPr>
          <a:xfrm>
            <a:off x="8010144" y="2286000"/>
            <a:ext cx="1773936"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Tailwind CSS 4</a:t>
            </a:r>
          </a:p>
        </p:txBody>
      </p:sp>
      <p:sp>
        <p:nvSpPr>
          <p:cNvPr id="11" name="TextBox 10"/>
          <p:cNvSpPr txBox="1"/>
          <p:nvPr/>
        </p:nvSpPr>
        <p:spPr>
          <a:xfrm>
            <a:off x="777240" y="3200400"/>
            <a:ext cx="1737360" cy="365760"/>
          </a:xfrm>
          <a:prstGeom prst="rect">
            <a:avLst/>
          </a:prstGeom>
          <a:noFill/>
        </p:spPr>
        <p:txBody>
          <a:bodyPr wrap="square" lIns="0" rIns="0" tIns="0" bIns="0" anchor="t">
            <a:spAutoFit/>
          </a:bodyPr>
          <a:lstStyle/>
          <a:p>
            <a:pPr algn="l">
              <a:lnSpc>
                <a:spcPct val="100000"/>
              </a:lnSpc>
              <a:spcAft>
                <a:spcPts val="0"/>
              </a:spcAft>
            </a:pPr>
            <a:r>
              <a:rPr sz="1500" b="1">
                <a:solidFill>
                  <a:srgbClr val="A8E063"/>
                </a:solidFill>
                <a:latin typeface="Segoe UI Semibold"/>
              </a:rPr>
              <a:t>Backend</a:t>
            </a:r>
          </a:p>
        </p:txBody>
      </p:sp>
      <p:sp>
        <p:nvSpPr>
          <p:cNvPr id="12" name="Rounded Rectangle 11"/>
          <p:cNvSpPr/>
          <p:nvPr/>
        </p:nvSpPr>
        <p:spPr>
          <a:xfrm>
            <a:off x="2606040" y="3154680"/>
            <a:ext cx="1773936"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Route Handlers</a:t>
            </a:r>
          </a:p>
        </p:txBody>
      </p:sp>
      <p:sp>
        <p:nvSpPr>
          <p:cNvPr id="13" name="Rounded Rectangle 12"/>
          <p:cNvSpPr/>
          <p:nvPr/>
        </p:nvSpPr>
        <p:spPr>
          <a:xfrm>
            <a:off x="4507992" y="3154680"/>
            <a:ext cx="2075688"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Server Components</a:t>
            </a:r>
          </a:p>
        </p:txBody>
      </p:sp>
      <p:sp>
        <p:nvSpPr>
          <p:cNvPr id="14" name="Rounded Rectangle 13"/>
          <p:cNvSpPr/>
          <p:nvPr/>
        </p:nvSpPr>
        <p:spPr>
          <a:xfrm>
            <a:off x="6711696" y="3154680"/>
            <a:ext cx="2276855"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Domain layer (lib/)</a:t>
            </a:r>
          </a:p>
        </p:txBody>
      </p:sp>
      <p:sp>
        <p:nvSpPr>
          <p:cNvPr id="15" name="TextBox 14"/>
          <p:cNvSpPr txBox="1"/>
          <p:nvPr/>
        </p:nvSpPr>
        <p:spPr>
          <a:xfrm>
            <a:off x="777240" y="4069080"/>
            <a:ext cx="1737360" cy="365760"/>
          </a:xfrm>
          <a:prstGeom prst="rect">
            <a:avLst/>
          </a:prstGeom>
          <a:noFill/>
        </p:spPr>
        <p:txBody>
          <a:bodyPr wrap="square" lIns="0" rIns="0" tIns="0" bIns="0" anchor="t">
            <a:spAutoFit/>
          </a:bodyPr>
          <a:lstStyle/>
          <a:p>
            <a:pPr algn="l">
              <a:lnSpc>
                <a:spcPct val="100000"/>
              </a:lnSpc>
              <a:spcAft>
                <a:spcPts val="0"/>
              </a:spcAft>
            </a:pPr>
            <a:r>
              <a:rPr sz="1500" b="1">
                <a:solidFill>
                  <a:srgbClr val="A8E063"/>
                </a:solidFill>
                <a:latin typeface="Segoe UI Semibold"/>
              </a:rPr>
              <a:t>Data</a:t>
            </a:r>
          </a:p>
        </p:txBody>
      </p:sp>
      <p:sp>
        <p:nvSpPr>
          <p:cNvPr id="16" name="Rounded Rectangle 15"/>
          <p:cNvSpPr/>
          <p:nvPr/>
        </p:nvSpPr>
        <p:spPr>
          <a:xfrm>
            <a:off x="2606040" y="4023360"/>
            <a:ext cx="1572768"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Prisma ORM 7</a:t>
            </a:r>
          </a:p>
        </p:txBody>
      </p:sp>
      <p:sp>
        <p:nvSpPr>
          <p:cNvPr id="17" name="Rounded Rectangle 16"/>
          <p:cNvSpPr/>
          <p:nvPr/>
        </p:nvSpPr>
        <p:spPr>
          <a:xfrm>
            <a:off x="4306824" y="4023360"/>
            <a:ext cx="1572768"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SQLite (dev)</a:t>
            </a:r>
          </a:p>
        </p:txBody>
      </p:sp>
      <p:sp>
        <p:nvSpPr>
          <p:cNvPr id="18" name="Rounded Rectangle 17"/>
          <p:cNvSpPr/>
          <p:nvPr/>
        </p:nvSpPr>
        <p:spPr>
          <a:xfrm>
            <a:off x="6007608" y="4023360"/>
            <a:ext cx="2578608"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Turso / libSQL (cloud)</a:t>
            </a:r>
          </a:p>
        </p:txBody>
      </p:sp>
      <p:sp>
        <p:nvSpPr>
          <p:cNvPr id="19" name="TextBox 18"/>
          <p:cNvSpPr txBox="1"/>
          <p:nvPr/>
        </p:nvSpPr>
        <p:spPr>
          <a:xfrm>
            <a:off x="777240" y="4937760"/>
            <a:ext cx="1737360" cy="365760"/>
          </a:xfrm>
          <a:prstGeom prst="rect">
            <a:avLst/>
          </a:prstGeom>
          <a:noFill/>
        </p:spPr>
        <p:txBody>
          <a:bodyPr wrap="square" lIns="0" rIns="0" tIns="0" bIns="0" anchor="t">
            <a:spAutoFit/>
          </a:bodyPr>
          <a:lstStyle/>
          <a:p>
            <a:pPr algn="l">
              <a:lnSpc>
                <a:spcPct val="100000"/>
              </a:lnSpc>
              <a:spcAft>
                <a:spcPts val="0"/>
              </a:spcAft>
            </a:pPr>
            <a:r>
              <a:rPr sz="1500" b="1">
                <a:solidFill>
                  <a:srgbClr val="A8E063"/>
                </a:solidFill>
                <a:latin typeface="Segoe UI Semibold"/>
              </a:rPr>
              <a:t>Platform</a:t>
            </a:r>
          </a:p>
        </p:txBody>
      </p:sp>
      <p:sp>
        <p:nvSpPr>
          <p:cNvPr id="20" name="Rounded Rectangle 19"/>
          <p:cNvSpPr/>
          <p:nvPr/>
        </p:nvSpPr>
        <p:spPr>
          <a:xfrm>
            <a:off x="2606040" y="4892040"/>
            <a:ext cx="2578608"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JWT + HttpOnly cookies</a:t>
            </a:r>
          </a:p>
        </p:txBody>
      </p:sp>
      <p:sp>
        <p:nvSpPr>
          <p:cNvPr id="21" name="Rounded Rectangle 20"/>
          <p:cNvSpPr/>
          <p:nvPr/>
        </p:nvSpPr>
        <p:spPr>
          <a:xfrm>
            <a:off x="5312664" y="4892040"/>
            <a:ext cx="969264"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Vitest</a:t>
            </a:r>
          </a:p>
        </p:txBody>
      </p:sp>
      <p:sp>
        <p:nvSpPr>
          <p:cNvPr id="22" name="Rounded Rectangle 21"/>
          <p:cNvSpPr/>
          <p:nvPr/>
        </p:nvSpPr>
        <p:spPr>
          <a:xfrm>
            <a:off x="6409944" y="4892040"/>
            <a:ext cx="2075688" cy="329184"/>
          </a:xfrm>
          <a:prstGeom prst="roundRect">
            <a:avLst>
              <a:gd name="adj" fmla="val 50000"/>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50" b="1">
                <a:solidFill>
                  <a:srgbClr val="F5F7F4"/>
                </a:solidFill>
                <a:latin typeface="Segoe UI Semibold"/>
              </a:rPr>
              <a:t>GitHub Actions CI</a:t>
            </a:r>
          </a:p>
        </p:txBody>
      </p:sp>
      <p:sp>
        <p:nvSpPr>
          <p:cNvPr id="23" name="TextBox 22"/>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4" name="TextBox 23"/>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SYSTEM DESIGN</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Architecture</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55064"/>
            <a:ext cx="10424160" cy="457200"/>
          </a:xfrm>
          <a:prstGeom prst="rect">
            <a:avLst/>
          </a:prstGeom>
          <a:noFill/>
        </p:spPr>
        <p:txBody>
          <a:bodyPr wrap="square" lIns="0" rIns="0" tIns="0" bIns="0" anchor="t">
            <a:spAutoFit/>
          </a:bodyPr>
          <a:lstStyle/>
          <a:p>
            <a:pPr algn="l">
              <a:lnSpc>
                <a:spcPct val="100000"/>
              </a:lnSpc>
              <a:spcAft>
                <a:spcPts val="0"/>
              </a:spcAft>
            </a:pPr>
            <a:r>
              <a:rPr sz="1500" b="0">
                <a:solidFill>
                  <a:srgbClr val="9AA59D"/>
                </a:solidFill>
                <a:latin typeface="Segoe UI"/>
              </a:rPr>
              <a:t>A single Next.js application: rendering, API and domain logic in one deployable unit.</a:t>
            </a:r>
          </a:p>
        </p:txBody>
      </p:sp>
      <p:sp>
        <p:nvSpPr>
          <p:cNvPr id="7" name="Rounded Rectangle 6"/>
          <p:cNvSpPr/>
          <p:nvPr/>
        </p:nvSpPr>
        <p:spPr>
          <a:xfrm>
            <a:off x="1463040" y="2240280"/>
            <a:ext cx="6583680" cy="658368"/>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Browser  ·  React 19 UI</a:t>
            </a:r>
          </a:p>
          <a:p>
            <a:pPr algn="ctr"/>
            <a:r>
              <a:rPr sz="1000">
                <a:solidFill>
                  <a:srgbClr val="9AA59D"/>
                </a:solidFill>
                <a:latin typeface="Segoe UI"/>
              </a:rPr>
              <a:t>Server Components + Client Components</a:t>
            </a:r>
          </a:p>
        </p:txBody>
      </p:sp>
      <p:sp>
        <p:nvSpPr>
          <p:cNvPr id="8" name="Down Arrow 7"/>
          <p:cNvSpPr/>
          <p:nvPr/>
        </p:nvSpPr>
        <p:spPr>
          <a:xfrm>
            <a:off x="4663440" y="2916936"/>
            <a:ext cx="82296" cy="137160"/>
          </a:xfrm>
          <a:prstGeom prst="downArrow">
            <a:avLst/>
          </a:prstGeom>
          <a:solidFill>
            <a:srgbClr val="6FA8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1463040" y="3063240"/>
            <a:ext cx="6583680" cy="658368"/>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Next.js App Router</a:t>
            </a:r>
          </a:p>
          <a:p>
            <a:pPr algn="ctr"/>
            <a:r>
              <a:rPr sz="1000">
                <a:solidFill>
                  <a:srgbClr val="9AA59D"/>
                </a:solidFill>
                <a:latin typeface="Segoe UI"/>
              </a:rPr>
              <a:t>app/**/page.tsx   ·   app/api/**/route.ts</a:t>
            </a:r>
          </a:p>
        </p:txBody>
      </p:sp>
      <p:sp>
        <p:nvSpPr>
          <p:cNvPr id="10" name="Down Arrow 9"/>
          <p:cNvSpPr/>
          <p:nvPr/>
        </p:nvSpPr>
        <p:spPr>
          <a:xfrm>
            <a:off x="4663440" y="3739896"/>
            <a:ext cx="82296" cy="137160"/>
          </a:xfrm>
          <a:prstGeom prst="downArrow">
            <a:avLst/>
          </a:prstGeom>
          <a:solidFill>
            <a:srgbClr val="6FA8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1463040" y="3886200"/>
            <a:ext cx="6583680" cy="658368"/>
          </a:xfrm>
          <a:prstGeom prst="roundRect">
            <a:avLst>
              <a:gd name="adj" fmla="val 12000"/>
            </a:avLst>
          </a:prstGeom>
          <a:solidFill>
            <a:srgbClr val="1C2A18"/>
          </a:solidFill>
          <a:ln w="12700">
            <a:solidFill>
              <a:srgbClr val="A8E0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A8E063"/>
                </a:solidFill>
                <a:latin typeface="Segoe UI Semibold"/>
              </a:rPr>
              <a:t>Auth &amp; session layer</a:t>
            </a:r>
          </a:p>
          <a:p>
            <a:pPr algn="ctr"/>
            <a:r>
              <a:rPr sz="1000">
                <a:solidFill>
                  <a:srgbClr val="9AA59D"/>
                </a:solidFill>
                <a:latin typeface="Segoe UI"/>
              </a:rPr>
              <a:t>JWT in HttpOnly cookie  ·  role guard on every route</a:t>
            </a:r>
          </a:p>
        </p:txBody>
      </p:sp>
      <p:sp>
        <p:nvSpPr>
          <p:cNvPr id="12" name="Down Arrow 11"/>
          <p:cNvSpPr/>
          <p:nvPr/>
        </p:nvSpPr>
        <p:spPr>
          <a:xfrm>
            <a:off x="4663440" y="4562856"/>
            <a:ext cx="82296" cy="137160"/>
          </a:xfrm>
          <a:prstGeom prst="downArrow">
            <a:avLst/>
          </a:prstGeom>
          <a:solidFill>
            <a:srgbClr val="6FA8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1463040" y="4709160"/>
            <a:ext cx="6583680" cy="658368"/>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Domain layer (lib/)</a:t>
            </a:r>
          </a:p>
          <a:p>
            <a:pPr algn="ctr"/>
            <a:r>
              <a:rPr sz="1000">
                <a:solidFill>
                  <a:srgbClr val="9AA59D"/>
                </a:solidFill>
                <a:latin typeface="Segoe UI"/>
              </a:rPr>
              <a:t>auth · payments · subscriptions · finance · scheduling · validation</a:t>
            </a:r>
          </a:p>
        </p:txBody>
      </p:sp>
      <p:sp>
        <p:nvSpPr>
          <p:cNvPr id="14" name="Down Arrow 13"/>
          <p:cNvSpPr/>
          <p:nvPr/>
        </p:nvSpPr>
        <p:spPr>
          <a:xfrm>
            <a:off x="4663440" y="5385816"/>
            <a:ext cx="82296" cy="137160"/>
          </a:xfrm>
          <a:prstGeom prst="downArrow">
            <a:avLst/>
          </a:prstGeom>
          <a:solidFill>
            <a:srgbClr val="6FA8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1463040" y="5532120"/>
            <a:ext cx="6583680" cy="658368"/>
          </a:xfrm>
          <a:prstGeom prst="roundRect">
            <a:avLst>
              <a:gd name="adj" fmla="val 12000"/>
            </a:avLst>
          </a:prstGeom>
          <a:solidFill>
            <a:srgbClr val="1C2A18"/>
          </a:solidFill>
          <a:ln w="12700">
            <a:solidFill>
              <a:srgbClr val="A8E0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A8E063"/>
                </a:solidFill>
                <a:latin typeface="Segoe UI Semibold"/>
              </a:rPr>
              <a:t>Prisma ORM 7  →  SQLite / Turso libSQL</a:t>
            </a:r>
          </a:p>
          <a:p>
            <a:pPr algn="ctr"/>
            <a:r>
              <a:rPr sz="1000">
                <a:solidFill>
                  <a:srgbClr val="9AA59D"/>
                </a:solidFill>
                <a:latin typeface="Segoe UI"/>
              </a:rPr>
              <a:t>33 models  ·  migrations as source of truth</a:t>
            </a:r>
          </a:p>
        </p:txBody>
      </p:sp>
      <p:sp>
        <p:nvSpPr>
          <p:cNvPr id="16" name="Rounded Rectangle 15"/>
          <p:cNvSpPr/>
          <p:nvPr/>
        </p:nvSpPr>
        <p:spPr>
          <a:xfrm>
            <a:off x="8503920" y="3886200"/>
            <a:ext cx="2743200" cy="658368"/>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Payment gateway</a:t>
            </a:r>
          </a:p>
          <a:p>
            <a:pPr algn="ctr"/>
            <a:r>
              <a:rPr sz="1000">
                <a:solidFill>
                  <a:srgbClr val="9AA59D"/>
                </a:solidFill>
                <a:latin typeface="Segoe UI"/>
              </a:rPr>
              <a:t>checkout · webhook · refund</a:t>
            </a:r>
          </a:p>
        </p:txBody>
      </p:sp>
      <p:sp>
        <p:nvSpPr>
          <p:cNvPr id="17" name="Rounded Rectangle 16"/>
          <p:cNvSpPr/>
          <p:nvPr/>
        </p:nvSpPr>
        <p:spPr>
          <a:xfrm>
            <a:off x="8503920" y="4709160"/>
            <a:ext cx="2743200" cy="658368"/>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Daily scheduler</a:t>
            </a:r>
          </a:p>
          <a:p>
            <a:pPr algn="ctr"/>
            <a:r>
              <a:rPr sz="1000">
                <a:solidFill>
                  <a:srgbClr val="9AA59D"/>
                </a:solidFill>
                <a:latin typeface="Segoe UI"/>
              </a:rPr>
              <a:t>/api/cron/subscriptions</a:t>
            </a:r>
          </a:p>
        </p:txBody>
      </p:sp>
      <p:sp>
        <p:nvSpPr>
          <p:cNvPr id="18" name="TextBox 17"/>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19" name="TextBox 18"/>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33 MODELS</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Data model</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55064"/>
            <a:ext cx="10424160" cy="457200"/>
          </a:xfrm>
          <a:prstGeom prst="rect">
            <a:avLst/>
          </a:prstGeom>
          <a:noFill/>
        </p:spPr>
        <p:txBody>
          <a:bodyPr wrap="square" lIns="0" rIns="0" tIns="0" bIns="0" anchor="t">
            <a:spAutoFit/>
          </a:bodyPr>
          <a:lstStyle/>
          <a:p>
            <a:pPr algn="l">
              <a:lnSpc>
                <a:spcPct val="100000"/>
              </a:lnSpc>
              <a:spcAft>
                <a:spcPts val="0"/>
              </a:spcAft>
            </a:pPr>
            <a:r>
              <a:rPr sz="1500" b="0">
                <a:solidFill>
                  <a:srgbClr val="9AA59D"/>
                </a:solidFill>
                <a:latin typeface="Segoe UI"/>
              </a:rPr>
              <a:t>Relationships — not flags — carry the business rules.</a:t>
            </a:r>
          </a:p>
        </p:txBody>
      </p:sp>
      <p:sp>
        <p:nvSpPr>
          <p:cNvPr id="7" name="Rectangle 6"/>
          <p:cNvSpPr/>
          <p:nvPr/>
        </p:nvSpPr>
        <p:spPr>
          <a:xfrm>
            <a:off x="777240" y="2514600"/>
            <a:ext cx="2487168" cy="237744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514600"/>
            <a:ext cx="44450" cy="237744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2788920"/>
            <a:ext cx="2103120" cy="365760"/>
          </a:xfrm>
          <a:prstGeom prst="rect">
            <a:avLst/>
          </a:prstGeom>
          <a:noFill/>
        </p:spPr>
        <p:txBody>
          <a:bodyPr wrap="square" lIns="0" rIns="0" tIns="0" bIns="0" anchor="t">
            <a:spAutoFit/>
          </a:bodyPr>
          <a:lstStyle/>
          <a:p>
            <a:pPr algn="l">
              <a:lnSpc>
                <a:spcPct val="100000"/>
              </a:lnSpc>
              <a:spcAft>
                <a:spcPts val="0"/>
              </a:spcAft>
            </a:pPr>
            <a:r>
              <a:rPr sz="1500" b="1">
                <a:solidFill>
                  <a:srgbClr val="A8E063"/>
                </a:solidFill>
                <a:latin typeface="Segoe UI Semibold"/>
              </a:rPr>
              <a:t>Identity &amp; access</a:t>
            </a:r>
          </a:p>
        </p:txBody>
      </p:sp>
      <p:sp>
        <p:nvSpPr>
          <p:cNvPr id="10" name="TextBox 9"/>
          <p:cNvSpPr txBox="1"/>
          <p:nvPr/>
        </p:nvSpPr>
        <p:spPr>
          <a:xfrm>
            <a:off x="1051560" y="3200400"/>
            <a:ext cx="2103120" cy="1554480"/>
          </a:xfrm>
          <a:prstGeom prst="rect">
            <a:avLst/>
          </a:prstGeom>
          <a:noFill/>
        </p:spPr>
        <p:txBody>
          <a:bodyPr wrap="square" lIns="0" rIns="0" tIns="0" bIns="0" anchor="t">
            <a:spAutoFit/>
          </a:bodyPr>
          <a:lstStyle/>
          <a:p>
            <a:pPr algn="l">
              <a:lnSpc>
                <a:spcPct val="145000"/>
              </a:lnSpc>
              <a:spcAft>
                <a:spcPts val="0"/>
              </a:spcAft>
            </a:pPr>
            <a:r>
              <a:rPr sz="1150" b="0">
                <a:solidFill>
                  <a:srgbClr val="F5F7F4"/>
                </a:solidFill>
                <a:latin typeface="Segoe UI"/>
              </a:rPr>
              <a:t>User  ·  TrainerProfile</a:t>
            </a:r>
          </a:p>
          <a:p>
            <a:pPr algn="l">
              <a:lnSpc>
                <a:spcPct val="145000"/>
              </a:lnSpc>
              <a:spcAft>
                <a:spcPts val="0"/>
              </a:spcAft>
            </a:pPr>
            <a:r>
              <a:rPr sz="1150" b="0">
                <a:solidFill>
                  <a:srgbClr val="F5F7F4"/>
                </a:solidFill>
                <a:latin typeface="Segoe UI"/>
              </a:rPr>
              <a:t>GymStaff  ·  Session</a:t>
            </a:r>
          </a:p>
          <a:p>
            <a:pPr algn="l">
              <a:lnSpc>
                <a:spcPct val="145000"/>
              </a:lnSpc>
              <a:spcAft>
                <a:spcPts val="0"/>
              </a:spcAft>
            </a:pPr>
            <a:r>
              <a:rPr sz="1150" b="0">
                <a:solidFill>
                  <a:srgbClr val="F5F7F4"/>
                </a:solidFill>
                <a:latin typeface="Segoe UI"/>
              </a:rPr>
              <a:t>AuditLog</a:t>
            </a:r>
          </a:p>
        </p:txBody>
      </p:sp>
      <p:sp>
        <p:nvSpPr>
          <p:cNvPr id="11" name="Rectangle 10"/>
          <p:cNvSpPr/>
          <p:nvPr/>
        </p:nvSpPr>
        <p:spPr>
          <a:xfrm>
            <a:off x="3502152" y="2514600"/>
            <a:ext cx="2487168" cy="237744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502152" y="2514600"/>
            <a:ext cx="44450" cy="237744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776472" y="2788920"/>
            <a:ext cx="2103120" cy="365760"/>
          </a:xfrm>
          <a:prstGeom prst="rect">
            <a:avLst/>
          </a:prstGeom>
          <a:noFill/>
        </p:spPr>
        <p:txBody>
          <a:bodyPr wrap="square" lIns="0" rIns="0" tIns="0" bIns="0" anchor="t">
            <a:spAutoFit/>
          </a:bodyPr>
          <a:lstStyle/>
          <a:p>
            <a:pPr algn="l">
              <a:lnSpc>
                <a:spcPct val="100000"/>
              </a:lnSpc>
              <a:spcAft>
                <a:spcPts val="0"/>
              </a:spcAft>
            </a:pPr>
            <a:r>
              <a:rPr sz="1500" b="1">
                <a:solidFill>
                  <a:srgbClr val="A8E063"/>
                </a:solidFill>
                <a:latin typeface="Segoe UI Semibold"/>
              </a:rPr>
              <a:t>Gym &amp; commerce</a:t>
            </a:r>
          </a:p>
        </p:txBody>
      </p:sp>
      <p:sp>
        <p:nvSpPr>
          <p:cNvPr id="14" name="TextBox 13"/>
          <p:cNvSpPr txBox="1"/>
          <p:nvPr/>
        </p:nvSpPr>
        <p:spPr>
          <a:xfrm>
            <a:off x="3776472" y="3200400"/>
            <a:ext cx="2103120" cy="1554480"/>
          </a:xfrm>
          <a:prstGeom prst="rect">
            <a:avLst/>
          </a:prstGeom>
          <a:noFill/>
        </p:spPr>
        <p:txBody>
          <a:bodyPr wrap="square" lIns="0" rIns="0" tIns="0" bIns="0" anchor="t">
            <a:spAutoFit/>
          </a:bodyPr>
          <a:lstStyle/>
          <a:p>
            <a:pPr algn="l">
              <a:lnSpc>
                <a:spcPct val="145000"/>
              </a:lnSpc>
              <a:spcAft>
                <a:spcPts val="0"/>
              </a:spcAft>
            </a:pPr>
            <a:r>
              <a:rPr sz="1150" b="0">
                <a:solidFill>
                  <a:srgbClr val="F5F7F4"/>
                </a:solidFill>
                <a:latin typeface="Segoe UI"/>
              </a:rPr>
              <a:t>Gym  ·  GymMembership</a:t>
            </a:r>
          </a:p>
          <a:p>
            <a:pPr algn="l">
              <a:lnSpc>
                <a:spcPct val="145000"/>
              </a:lnSpc>
              <a:spcAft>
                <a:spcPts val="0"/>
              </a:spcAft>
            </a:pPr>
            <a:r>
              <a:rPr sz="1150" b="0">
                <a:solidFill>
                  <a:srgbClr val="F5F7F4"/>
                </a:solidFill>
                <a:latin typeface="Segoe UI"/>
              </a:rPr>
              <a:t>GymTrainer  ·  SubscriptionPlan</a:t>
            </a:r>
          </a:p>
          <a:p>
            <a:pPr algn="l">
              <a:lnSpc>
                <a:spcPct val="145000"/>
              </a:lnSpc>
              <a:spcAft>
                <a:spcPts val="0"/>
              </a:spcAft>
            </a:pPr>
            <a:r>
              <a:rPr sz="1150" b="0">
                <a:solidFill>
                  <a:srgbClr val="F5F7F4"/>
                </a:solidFill>
                <a:latin typeface="Segoe UI"/>
              </a:rPr>
              <a:t>Subscription  ·  Payment  ·  PaymentEvent</a:t>
            </a:r>
          </a:p>
        </p:txBody>
      </p:sp>
      <p:sp>
        <p:nvSpPr>
          <p:cNvPr id="15" name="Rectangle 14"/>
          <p:cNvSpPr/>
          <p:nvPr/>
        </p:nvSpPr>
        <p:spPr>
          <a:xfrm>
            <a:off x="6227064" y="2514600"/>
            <a:ext cx="2487168" cy="237744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227064" y="2514600"/>
            <a:ext cx="44450" cy="237744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01384" y="2788920"/>
            <a:ext cx="2103120" cy="365760"/>
          </a:xfrm>
          <a:prstGeom prst="rect">
            <a:avLst/>
          </a:prstGeom>
          <a:noFill/>
        </p:spPr>
        <p:txBody>
          <a:bodyPr wrap="square" lIns="0" rIns="0" tIns="0" bIns="0" anchor="t">
            <a:spAutoFit/>
          </a:bodyPr>
          <a:lstStyle/>
          <a:p>
            <a:pPr algn="l">
              <a:lnSpc>
                <a:spcPct val="100000"/>
              </a:lnSpc>
              <a:spcAft>
                <a:spcPts val="0"/>
              </a:spcAft>
            </a:pPr>
            <a:r>
              <a:rPr sz="1500" b="1">
                <a:solidFill>
                  <a:srgbClr val="A8E063"/>
                </a:solidFill>
                <a:latin typeface="Segoe UI Semibold"/>
              </a:rPr>
              <a:t>Coaching &amp; content</a:t>
            </a:r>
          </a:p>
        </p:txBody>
      </p:sp>
      <p:sp>
        <p:nvSpPr>
          <p:cNvPr id="18" name="TextBox 17"/>
          <p:cNvSpPr txBox="1"/>
          <p:nvPr/>
        </p:nvSpPr>
        <p:spPr>
          <a:xfrm>
            <a:off x="6501384" y="3200400"/>
            <a:ext cx="2103120" cy="1554480"/>
          </a:xfrm>
          <a:prstGeom prst="rect">
            <a:avLst/>
          </a:prstGeom>
          <a:noFill/>
        </p:spPr>
        <p:txBody>
          <a:bodyPr wrap="square" lIns="0" rIns="0" tIns="0" bIns="0" anchor="t">
            <a:spAutoFit/>
          </a:bodyPr>
          <a:lstStyle/>
          <a:p>
            <a:pPr algn="l">
              <a:lnSpc>
                <a:spcPct val="145000"/>
              </a:lnSpc>
              <a:spcAft>
                <a:spcPts val="0"/>
              </a:spcAft>
            </a:pPr>
            <a:r>
              <a:rPr sz="1150" b="0">
                <a:solidFill>
                  <a:srgbClr val="F5F7F4"/>
                </a:solidFill>
                <a:latin typeface="Segoe UI"/>
              </a:rPr>
              <a:t>TrainerClient  ·  WorkoutPlan</a:t>
            </a:r>
          </a:p>
          <a:p>
            <a:pPr algn="l">
              <a:lnSpc>
                <a:spcPct val="145000"/>
              </a:lnSpc>
              <a:spcAft>
                <a:spcPts val="0"/>
              </a:spcAft>
            </a:pPr>
            <a:r>
              <a:rPr sz="1150" b="0">
                <a:solidFill>
                  <a:srgbClr val="F5F7F4"/>
                </a:solidFill>
                <a:latin typeface="Segoe UI"/>
              </a:rPr>
              <a:t>DietPlan  ·  PlanDay  ·  Exercise</a:t>
            </a:r>
          </a:p>
          <a:p>
            <a:pPr algn="l">
              <a:lnSpc>
                <a:spcPct val="145000"/>
              </a:lnSpc>
              <a:spcAft>
                <a:spcPts val="0"/>
              </a:spcAft>
            </a:pPr>
            <a:r>
              <a:rPr sz="1150" b="0">
                <a:solidFill>
                  <a:srgbClr val="F5F7F4"/>
                </a:solidFill>
                <a:latin typeface="Segoe UI"/>
              </a:rPr>
              <a:t>Meal  ·  FoodItem  ·  Assignment</a:t>
            </a:r>
          </a:p>
        </p:txBody>
      </p:sp>
      <p:sp>
        <p:nvSpPr>
          <p:cNvPr id="19" name="Rectangle 18"/>
          <p:cNvSpPr/>
          <p:nvPr/>
        </p:nvSpPr>
        <p:spPr>
          <a:xfrm>
            <a:off x="8951976" y="2514600"/>
            <a:ext cx="2487168" cy="237744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951976" y="2514600"/>
            <a:ext cx="44450" cy="237744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226296" y="2788920"/>
            <a:ext cx="2103120" cy="365760"/>
          </a:xfrm>
          <a:prstGeom prst="rect">
            <a:avLst/>
          </a:prstGeom>
          <a:noFill/>
        </p:spPr>
        <p:txBody>
          <a:bodyPr wrap="square" lIns="0" rIns="0" tIns="0" bIns="0" anchor="t">
            <a:spAutoFit/>
          </a:bodyPr>
          <a:lstStyle/>
          <a:p>
            <a:pPr algn="l">
              <a:lnSpc>
                <a:spcPct val="100000"/>
              </a:lnSpc>
              <a:spcAft>
                <a:spcPts val="0"/>
              </a:spcAft>
            </a:pPr>
            <a:r>
              <a:rPr sz="1500" b="1">
                <a:solidFill>
                  <a:srgbClr val="A8E063"/>
                </a:solidFill>
                <a:latin typeface="Segoe UI Semibold"/>
              </a:rPr>
              <a:t>Progress &amp; trust</a:t>
            </a:r>
          </a:p>
        </p:txBody>
      </p:sp>
      <p:sp>
        <p:nvSpPr>
          <p:cNvPr id="22" name="TextBox 21"/>
          <p:cNvSpPr txBox="1"/>
          <p:nvPr/>
        </p:nvSpPr>
        <p:spPr>
          <a:xfrm>
            <a:off x="9226296" y="3200400"/>
            <a:ext cx="2103120" cy="1554480"/>
          </a:xfrm>
          <a:prstGeom prst="rect">
            <a:avLst/>
          </a:prstGeom>
          <a:noFill/>
        </p:spPr>
        <p:txBody>
          <a:bodyPr wrap="square" lIns="0" rIns="0" tIns="0" bIns="0" anchor="t">
            <a:spAutoFit/>
          </a:bodyPr>
          <a:lstStyle/>
          <a:p>
            <a:pPr algn="l">
              <a:lnSpc>
                <a:spcPct val="145000"/>
              </a:lnSpc>
              <a:spcAft>
                <a:spcPts val="0"/>
              </a:spcAft>
            </a:pPr>
            <a:r>
              <a:rPr sz="1150" b="0">
                <a:solidFill>
                  <a:srgbClr val="F5F7F4"/>
                </a:solidFill>
                <a:latin typeface="Segoe UI"/>
              </a:rPr>
              <a:t>WorkoutLog  ·  NutritionLog</a:t>
            </a:r>
          </a:p>
          <a:p>
            <a:pPr algn="l">
              <a:lnSpc>
                <a:spcPct val="145000"/>
              </a:lnSpc>
              <a:spcAft>
                <a:spcPts val="0"/>
              </a:spcAft>
            </a:pPr>
            <a:r>
              <a:rPr sz="1150" b="0">
                <a:solidFill>
                  <a:srgbClr val="F5F7F4"/>
                </a:solidFill>
                <a:latin typeface="Segoe UI"/>
              </a:rPr>
              <a:t>BodyCheckIn  ·  Feedback</a:t>
            </a:r>
          </a:p>
          <a:p>
            <a:pPr algn="l">
              <a:lnSpc>
                <a:spcPct val="145000"/>
              </a:lnSpc>
              <a:spcAft>
                <a:spcPts val="0"/>
              </a:spcAft>
            </a:pPr>
            <a:r>
              <a:rPr sz="1150" b="0">
                <a:solidFill>
                  <a:srgbClr val="F5F7F4"/>
                </a:solidFill>
                <a:latin typeface="Segoe UI"/>
              </a:rPr>
              <a:t>GymReview  ·  TrainerReview  ·  Notification</a:t>
            </a:r>
          </a:p>
        </p:txBody>
      </p:sp>
      <p:sp>
        <p:nvSpPr>
          <p:cNvPr id="23" name="TextBox 22"/>
          <p:cNvSpPr txBox="1"/>
          <p:nvPr/>
        </p:nvSpPr>
        <p:spPr>
          <a:xfrm>
            <a:off x="777240" y="5212080"/>
            <a:ext cx="10515600" cy="45720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Money is stored as integers in the smallest currency unit  ·  plans are versioned and immutable once assigned.</a:t>
            </a:r>
          </a:p>
        </p:txBody>
      </p:sp>
      <p:sp>
        <p:nvSpPr>
          <p:cNvPr id="24" name="TextBox 23"/>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5" name="TextBox 24"/>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WALKTHROUGH</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The product</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36092" y="1970532"/>
            <a:ext cx="6757416" cy="425424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landing.png"/>
          <p:cNvPicPr>
            <a:picLocks noChangeAspect="1"/>
          </p:cNvPicPr>
          <p:nvPr/>
        </p:nvPicPr>
        <p:blipFill>
          <a:blip r:embed="rId2"/>
          <a:stretch>
            <a:fillRect/>
          </a:stretch>
        </p:blipFill>
        <p:spPr>
          <a:xfrm>
            <a:off x="777240" y="2011680"/>
            <a:ext cx="6675120" cy="4171950"/>
          </a:xfrm>
          <a:prstGeom prst="rect">
            <a:avLst/>
          </a:prstGeom>
        </p:spPr>
      </p:pic>
      <p:sp>
        <p:nvSpPr>
          <p:cNvPr id="8" name="Rectangle 7"/>
          <p:cNvSpPr/>
          <p:nvPr/>
        </p:nvSpPr>
        <p:spPr>
          <a:xfrm>
            <a:off x="7955279" y="235000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66175" y="2240280"/>
            <a:ext cx="347472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Public marketplace</a:t>
            </a:r>
          </a:p>
        </p:txBody>
      </p:sp>
      <p:sp>
        <p:nvSpPr>
          <p:cNvPr id="10" name="TextBox 9"/>
          <p:cNvSpPr txBox="1"/>
          <p:nvPr/>
        </p:nvSpPr>
        <p:spPr>
          <a:xfrm>
            <a:off x="8266175" y="2532888"/>
            <a:ext cx="347472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Browse gyms and trainers before signing up</a:t>
            </a:r>
          </a:p>
        </p:txBody>
      </p:sp>
      <p:sp>
        <p:nvSpPr>
          <p:cNvPr id="11" name="Rectangle 10"/>
          <p:cNvSpPr/>
          <p:nvPr/>
        </p:nvSpPr>
        <p:spPr>
          <a:xfrm>
            <a:off x="7955279" y="3191256"/>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66175" y="3081528"/>
            <a:ext cx="347472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Self-service sign-up</a:t>
            </a:r>
          </a:p>
        </p:txBody>
      </p:sp>
      <p:sp>
        <p:nvSpPr>
          <p:cNvPr id="13" name="TextBox 12"/>
          <p:cNvSpPr txBox="1"/>
          <p:nvPr/>
        </p:nvSpPr>
        <p:spPr>
          <a:xfrm>
            <a:off x="8266175" y="3374136"/>
            <a:ext cx="347472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Member or trainer, in one step</a:t>
            </a:r>
          </a:p>
        </p:txBody>
      </p:sp>
      <p:sp>
        <p:nvSpPr>
          <p:cNvPr id="14" name="Rectangle 13"/>
          <p:cNvSpPr/>
          <p:nvPr/>
        </p:nvSpPr>
        <p:spPr>
          <a:xfrm>
            <a:off x="7955279" y="4032504"/>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66175" y="3922776"/>
            <a:ext cx="347472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EN / فارسی</a:t>
            </a:r>
          </a:p>
        </p:txBody>
      </p:sp>
      <p:sp>
        <p:nvSpPr>
          <p:cNvPr id="16" name="TextBox 15"/>
          <p:cNvSpPr txBox="1"/>
          <p:nvPr/>
        </p:nvSpPr>
        <p:spPr>
          <a:xfrm>
            <a:off x="8266175" y="4215384"/>
            <a:ext cx="347472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Full RTL layout, Jalali dates</a:t>
            </a:r>
          </a:p>
        </p:txBody>
      </p:sp>
      <p:sp>
        <p:nvSpPr>
          <p:cNvPr id="17" name="Rectangle 16"/>
          <p:cNvSpPr/>
          <p:nvPr/>
        </p:nvSpPr>
        <p:spPr>
          <a:xfrm>
            <a:off x="7955279" y="4873752"/>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66175" y="4764024"/>
            <a:ext cx="347472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Light &amp; dark</a:t>
            </a:r>
          </a:p>
        </p:txBody>
      </p:sp>
      <p:sp>
        <p:nvSpPr>
          <p:cNvPr id="19" name="TextBox 18"/>
          <p:cNvSpPr txBox="1"/>
          <p:nvPr/>
        </p:nvSpPr>
        <p:spPr>
          <a:xfrm>
            <a:off x="8266175" y="5056632"/>
            <a:ext cx="347472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Persisted per user</a:t>
            </a:r>
          </a:p>
        </p:txBody>
      </p:sp>
      <p:sp>
        <p:nvSpPr>
          <p:cNvPr id="20" name="TextBox 19"/>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1" name="TextBox 20"/>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WALKTHROUGH · 1 OF 3</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Member journey</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36092" y="2080260"/>
            <a:ext cx="5477256" cy="345414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member-overview.png"/>
          <p:cNvPicPr>
            <a:picLocks noChangeAspect="1"/>
          </p:cNvPicPr>
          <p:nvPr/>
        </p:nvPicPr>
        <p:blipFill>
          <a:blip r:embed="rId2"/>
          <a:stretch>
            <a:fillRect/>
          </a:stretch>
        </p:blipFill>
        <p:spPr>
          <a:xfrm>
            <a:off x="777240" y="2121408"/>
            <a:ext cx="5394960" cy="3371850"/>
          </a:xfrm>
          <a:prstGeom prst="rect">
            <a:avLst/>
          </a:prstGeom>
        </p:spPr>
      </p:pic>
      <p:sp>
        <p:nvSpPr>
          <p:cNvPr id="8" name="TextBox 7"/>
          <p:cNvSpPr txBox="1"/>
          <p:nvPr/>
        </p:nvSpPr>
        <p:spPr>
          <a:xfrm>
            <a:off x="777240" y="5504688"/>
            <a:ext cx="5394960" cy="274320"/>
          </a:xfrm>
          <a:prstGeom prst="rect">
            <a:avLst/>
          </a:prstGeom>
          <a:noFill/>
        </p:spPr>
        <p:txBody>
          <a:bodyPr wrap="square" lIns="0" rIns="0" tIns="0" bIns="0" anchor="t">
            <a:spAutoFit/>
          </a:bodyPr>
          <a:lstStyle/>
          <a:p>
            <a:pPr algn="ctr">
              <a:lnSpc>
                <a:spcPct val="100000"/>
              </a:lnSpc>
              <a:spcAft>
                <a:spcPts val="0"/>
              </a:spcAft>
            </a:pPr>
            <a:r>
              <a:rPr sz="1100" b="0">
                <a:solidFill>
                  <a:srgbClr val="9AA59D"/>
                </a:solidFill>
                <a:latin typeface="Segoe UI"/>
              </a:rPr>
              <a:t>Member dashboard</a:t>
            </a:r>
          </a:p>
        </p:txBody>
      </p:sp>
      <p:sp>
        <p:nvSpPr>
          <p:cNvPr id="9" name="Rectangle 8"/>
          <p:cNvSpPr/>
          <p:nvPr/>
        </p:nvSpPr>
        <p:spPr>
          <a:xfrm>
            <a:off x="6405372" y="2080260"/>
            <a:ext cx="5020056" cy="316839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member-workouts.png"/>
          <p:cNvPicPr>
            <a:picLocks noChangeAspect="1"/>
          </p:cNvPicPr>
          <p:nvPr/>
        </p:nvPicPr>
        <p:blipFill>
          <a:blip r:embed="rId3"/>
          <a:stretch>
            <a:fillRect/>
          </a:stretch>
        </p:blipFill>
        <p:spPr>
          <a:xfrm>
            <a:off x="6446520" y="2121408"/>
            <a:ext cx="4937760" cy="3086100"/>
          </a:xfrm>
          <a:prstGeom prst="rect">
            <a:avLst/>
          </a:prstGeom>
        </p:spPr>
      </p:pic>
      <p:sp>
        <p:nvSpPr>
          <p:cNvPr id="11" name="TextBox 10"/>
          <p:cNvSpPr txBox="1"/>
          <p:nvPr/>
        </p:nvSpPr>
        <p:spPr>
          <a:xfrm>
            <a:off x="6446520" y="5504688"/>
            <a:ext cx="4937760" cy="274320"/>
          </a:xfrm>
          <a:prstGeom prst="rect">
            <a:avLst/>
          </a:prstGeom>
          <a:noFill/>
        </p:spPr>
        <p:txBody>
          <a:bodyPr wrap="square" lIns="0" rIns="0" tIns="0" bIns="0" anchor="t">
            <a:spAutoFit/>
          </a:bodyPr>
          <a:lstStyle/>
          <a:p>
            <a:pPr algn="ctr">
              <a:lnSpc>
                <a:spcPct val="100000"/>
              </a:lnSpc>
              <a:spcAft>
                <a:spcPts val="0"/>
              </a:spcAft>
            </a:pPr>
            <a:r>
              <a:rPr sz="1100" b="0">
                <a:solidFill>
                  <a:srgbClr val="9AA59D"/>
                </a:solidFill>
                <a:latin typeface="Segoe UI"/>
              </a:rPr>
              <a:t>Assigned workout plan</a:t>
            </a:r>
          </a:p>
        </p:txBody>
      </p:sp>
      <p:sp>
        <p:nvSpPr>
          <p:cNvPr id="12" name="TextBox 11"/>
          <p:cNvSpPr txBox="1"/>
          <p:nvPr/>
        </p:nvSpPr>
        <p:spPr>
          <a:xfrm>
            <a:off x="777240" y="5870448"/>
            <a:ext cx="10515600" cy="365760"/>
          </a:xfrm>
          <a:prstGeom prst="rect">
            <a:avLst/>
          </a:prstGeom>
          <a:noFill/>
        </p:spPr>
        <p:txBody>
          <a:bodyPr wrap="square" lIns="0" rIns="0" tIns="0" bIns="0" anchor="t">
            <a:spAutoFit/>
          </a:bodyPr>
          <a:lstStyle/>
          <a:p>
            <a:pPr algn="l">
              <a:lnSpc>
                <a:spcPct val="100000"/>
              </a:lnSpc>
              <a:spcAft>
                <a:spcPts val="0"/>
              </a:spcAft>
            </a:pPr>
            <a:r>
              <a:rPr sz="1400" b="0">
                <a:solidFill>
                  <a:srgbClr val="F5F7F4"/>
                </a:solidFill>
                <a:latin typeface="Segoe UI"/>
              </a:rPr>
              <a:t>Discover a gym  →  subscribe &amp; pay  →  request a trainer  →  follow the plan  →  log every session</a:t>
            </a:r>
          </a:p>
        </p:txBody>
      </p:sp>
      <p:sp>
        <p:nvSpPr>
          <p:cNvPr id="13" name="TextBox 12"/>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14" name="TextBox 13"/>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WALKTHROUGH · 1 OF 3</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Progress that is actually measured</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36092" y="2016252"/>
            <a:ext cx="6757416" cy="425424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member-progress.png"/>
          <p:cNvPicPr>
            <a:picLocks noChangeAspect="1"/>
          </p:cNvPicPr>
          <p:nvPr/>
        </p:nvPicPr>
        <p:blipFill>
          <a:blip r:embed="rId2"/>
          <a:stretch>
            <a:fillRect/>
          </a:stretch>
        </p:blipFill>
        <p:spPr>
          <a:xfrm>
            <a:off x="777240" y="2057400"/>
            <a:ext cx="6675120" cy="4171950"/>
          </a:xfrm>
          <a:prstGeom prst="rect">
            <a:avLst/>
          </a:prstGeom>
        </p:spPr>
      </p:pic>
      <p:sp>
        <p:nvSpPr>
          <p:cNvPr id="8" name="Rectangle 7"/>
          <p:cNvSpPr/>
          <p:nvPr/>
        </p:nvSpPr>
        <p:spPr>
          <a:xfrm>
            <a:off x="7955279" y="235000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66175" y="2240280"/>
            <a:ext cx="356616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Workout logs</a:t>
            </a:r>
          </a:p>
        </p:txBody>
      </p:sp>
      <p:sp>
        <p:nvSpPr>
          <p:cNvPr id="10" name="TextBox 9"/>
          <p:cNvSpPr txBox="1"/>
          <p:nvPr/>
        </p:nvSpPr>
        <p:spPr>
          <a:xfrm>
            <a:off x="8266175" y="2532888"/>
            <a:ext cx="356616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Prescribed vs. actual sets, load, RPE</a:t>
            </a:r>
          </a:p>
        </p:txBody>
      </p:sp>
      <p:sp>
        <p:nvSpPr>
          <p:cNvPr id="11" name="Rectangle 10"/>
          <p:cNvSpPr/>
          <p:nvPr/>
        </p:nvSpPr>
        <p:spPr>
          <a:xfrm>
            <a:off x="7955279" y="3191256"/>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66175" y="3081528"/>
            <a:ext cx="356616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Nutrition logs</a:t>
            </a:r>
          </a:p>
        </p:txBody>
      </p:sp>
      <p:sp>
        <p:nvSpPr>
          <p:cNvPr id="13" name="TextBox 12"/>
          <p:cNvSpPr txBox="1"/>
          <p:nvPr/>
        </p:nvSpPr>
        <p:spPr>
          <a:xfrm>
            <a:off x="8266175" y="3374136"/>
            <a:ext cx="356616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Meal completion, portions, substitutions</a:t>
            </a:r>
          </a:p>
        </p:txBody>
      </p:sp>
      <p:sp>
        <p:nvSpPr>
          <p:cNvPr id="14" name="Rectangle 13"/>
          <p:cNvSpPr/>
          <p:nvPr/>
        </p:nvSpPr>
        <p:spPr>
          <a:xfrm>
            <a:off x="7955279" y="4032504"/>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66175" y="3922776"/>
            <a:ext cx="356616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Body check-ins</a:t>
            </a:r>
          </a:p>
        </p:txBody>
      </p:sp>
      <p:sp>
        <p:nvSpPr>
          <p:cNvPr id="16" name="TextBox 15"/>
          <p:cNvSpPr txBox="1"/>
          <p:nvPr/>
        </p:nvSpPr>
        <p:spPr>
          <a:xfrm>
            <a:off x="8266175" y="4215384"/>
            <a:ext cx="356616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Weight, body fat, measurements, photos</a:t>
            </a:r>
          </a:p>
        </p:txBody>
      </p:sp>
      <p:sp>
        <p:nvSpPr>
          <p:cNvPr id="17" name="Rectangle 16"/>
          <p:cNvSpPr/>
          <p:nvPr/>
        </p:nvSpPr>
        <p:spPr>
          <a:xfrm>
            <a:off x="7955279" y="4873752"/>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66175" y="4764024"/>
            <a:ext cx="356616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Two-way feedback</a:t>
            </a:r>
          </a:p>
        </p:txBody>
      </p:sp>
      <p:sp>
        <p:nvSpPr>
          <p:cNvPr id="19" name="TextBox 18"/>
          <p:cNvSpPr txBox="1"/>
          <p:nvPr/>
        </p:nvSpPr>
        <p:spPr>
          <a:xfrm>
            <a:off x="8266175" y="5056632"/>
            <a:ext cx="356616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Trainer comments on a specific log</a:t>
            </a:r>
          </a:p>
        </p:txBody>
      </p:sp>
      <p:sp>
        <p:nvSpPr>
          <p:cNvPr id="20" name="TextBox 19"/>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1" name="TextBox 20"/>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WALKTHROUGH · 2 OF 3</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Trainer workspace</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36092" y="2080260"/>
            <a:ext cx="5477256" cy="345414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trainer-workouts.png"/>
          <p:cNvPicPr>
            <a:picLocks noChangeAspect="1"/>
          </p:cNvPicPr>
          <p:nvPr/>
        </p:nvPicPr>
        <p:blipFill>
          <a:blip r:embed="rId2"/>
          <a:stretch>
            <a:fillRect/>
          </a:stretch>
        </p:blipFill>
        <p:spPr>
          <a:xfrm>
            <a:off x="777240" y="2121408"/>
            <a:ext cx="5394960" cy="3371850"/>
          </a:xfrm>
          <a:prstGeom prst="rect">
            <a:avLst/>
          </a:prstGeom>
        </p:spPr>
      </p:pic>
      <p:sp>
        <p:nvSpPr>
          <p:cNvPr id="8" name="TextBox 7"/>
          <p:cNvSpPr txBox="1"/>
          <p:nvPr/>
        </p:nvSpPr>
        <p:spPr>
          <a:xfrm>
            <a:off x="777240" y="5504688"/>
            <a:ext cx="5394960" cy="274320"/>
          </a:xfrm>
          <a:prstGeom prst="rect">
            <a:avLst/>
          </a:prstGeom>
          <a:noFill/>
        </p:spPr>
        <p:txBody>
          <a:bodyPr wrap="square" lIns="0" rIns="0" tIns="0" bIns="0" anchor="t">
            <a:spAutoFit/>
          </a:bodyPr>
          <a:lstStyle/>
          <a:p>
            <a:pPr algn="ctr">
              <a:lnSpc>
                <a:spcPct val="100000"/>
              </a:lnSpc>
              <a:spcAft>
                <a:spcPts val="0"/>
              </a:spcAft>
            </a:pPr>
            <a:r>
              <a:rPr sz="1100" b="0">
                <a:solidFill>
                  <a:srgbClr val="9AA59D"/>
                </a:solidFill>
                <a:latin typeface="Segoe UI"/>
              </a:rPr>
              <a:t>Plan builder — days, exercises, versions</a:t>
            </a:r>
          </a:p>
        </p:txBody>
      </p:sp>
      <p:sp>
        <p:nvSpPr>
          <p:cNvPr id="9" name="Rectangle 8"/>
          <p:cNvSpPr/>
          <p:nvPr/>
        </p:nvSpPr>
        <p:spPr>
          <a:xfrm>
            <a:off x="6405372" y="2080260"/>
            <a:ext cx="5020056" cy="316839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trainer-schedule.png"/>
          <p:cNvPicPr>
            <a:picLocks noChangeAspect="1"/>
          </p:cNvPicPr>
          <p:nvPr/>
        </p:nvPicPr>
        <p:blipFill>
          <a:blip r:embed="rId3"/>
          <a:stretch>
            <a:fillRect/>
          </a:stretch>
        </p:blipFill>
        <p:spPr>
          <a:xfrm>
            <a:off x="6446520" y="2121408"/>
            <a:ext cx="4937760" cy="3086100"/>
          </a:xfrm>
          <a:prstGeom prst="rect">
            <a:avLst/>
          </a:prstGeom>
        </p:spPr>
      </p:pic>
      <p:sp>
        <p:nvSpPr>
          <p:cNvPr id="11" name="TextBox 10"/>
          <p:cNvSpPr txBox="1"/>
          <p:nvPr/>
        </p:nvSpPr>
        <p:spPr>
          <a:xfrm>
            <a:off x="6446520" y="5504688"/>
            <a:ext cx="4937760" cy="274320"/>
          </a:xfrm>
          <a:prstGeom prst="rect">
            <a:avLst/>
          </a:prstGeom>
          <a:noFill/>
        </p:spPr>
        <p:txBody>
          <a:bodyPr wrap="square" lIns="0" rIns="0" tIns="0" bIns="0" anchor="t">
            <a:spAutoFit/>
          </a:bodyPr>
          <a:lstStyle/>
          <a:p>
            <a:pPr algn="ctr">
              <a:lnSpc>
                <a:spcPct val="100000"/>
              </a:lnSpc>
              <a:spcAft>
                <a:spcPts val="0"/>
              </a:spcAft>
            </a:pPr>
            <a:r>
              <a:rPr sz="1100" b="0">
                <a:solidFill>
                  <a:srgbClr val="9AA59D"/>
                </a:solidFill>
                <a:latin typeface="Segoe UI"/>
              </a:rPr>
              <a:t>Availability &amp; sessions</a:t>
            </a:r>
          </a:p>
        </p:txBody>
      </p:sp>
      <p:sp>
        <p:nvSpPr>
          <p:cNvPr id="12" name="TextBox 11"/>
          <p:cNvSpPr txBox="1"/>
          <p:nvPr/>
        </p:nvSpPr>
        <p:spPr>
          <a:xfrm>
            <a:off x="777240" y="5870448"/>
            <a:ext cx="10515600" cy="365760"/>
          </a:xfrm>
          <a:prstGeom prst="rect">
            <a:avLst/>
          </a:prstGeom>
          <a:noFill/>
        </p:spPr>
        <p:txBody>
          <a:bodyPr wrap="square" lIns="0" rIns="0" tIns="0" bIns="0" anchor="t">
            <a:spAutoFit/>
          </a:bodyPr>
          <a:lstStyle/>
          <a:p>
            <a:pPr algn="l">
              <a:lnSpc>
                <a:spcPct val="100000"/>
              </a:lnSpc>
              <a:spcAft>
                <a:spcPts val="0"/>
              </a:spcAft>
            </a:pPr>
            <a:r>
              <a:rPr sz="1400" b="0">
                <a:solidFill>
                  <a:srgbClr val="F5F7F4"/>
                </a:solidFill>
                <a:latin typeface="Segoe UI"/>
              </a:rPr>
              <a:t>Reusable plans  ·  versioning &amp; duplication  ·  conflict-checked scheduling  ·  client progress review</a:t>
            </a:r>
          </a:p>
        </p:txBody>
      </p:sp>
      <p:sp>
        <p:nvSpPr>
          <p:cNvPr id="13" name="TextBox 12"/>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14" name="TextBox 13"/>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WALKTHROUGH · 3 OF 3</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Gym owner workspace</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36092" y="2080260"/>
            <a:ext cx="5477256" cy="345414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admin-overview.png"/>
          <p:cNvPicPr>
            <a:picLocks noChangeAspect="1"/>
          </p:cNvPicPr>
          <p:nvPr/>
        </p:nvPicPr>
        <p:blipFill>
          <a:blip r:embed="rId2"/>
          <a:stretch>
            <a:fillRect/>
          </a:stretch>
        </p:blipFill>
        <p:spPr>
          <a:xfrm>
            <a:off x="777240" y="2121408"/>
            <a:ext cx="5394960" cy="3371850"/>
          </a:xfrm>
          <a:prstGeom prst="rect">
            <a:avLst/>
          </a:prstGeom>
        </p:spPr>
      </p:pic>
      <p:sp>
        <p:nvSpPr>
          <p:cNvPr id="8" name="TextBox 7"/>
          <p:cNvSpPr txBox="1"/>
          <p:nvPr/>
        </p:nvSpPr>
        <p:spPr>
          <a:xfrm>
            <a:off x="777240" y="5504688"/>
            <a:ext cx="5394960" cy="274320"/>
          </a:xfrm>
          <a:prstGeom prst="rect">
            <a:avLst/>
          </a:prstGeom>
          <a:noFill/>
        </p:spPr>
        <p:txBody>
          <a:bodyPr wrap="square" lIns="0" rIns="0" tIns="0" bIns="0" anchor="t">
            <a:spAutoFit/>
          </a:bodyPr>
          <a:lstStyle/>
          <a:p>
            <a:pPr algn="ctr">
              <a:lnSpc>
                <a:spcPct val="100000"/>
              </a:lnSpc>
              <a:spcAft>
                <a:spcPts val="0"/>
              </a:spcAft>
            </a:pPr>
            <a:r>
              <a:rPr sz="1100" b="0">
                <a:solidFill>
                  <a:srgbClr val="9AA59D"/>
                </a:solidFill>
                <a:latin typeface="Segoe UI"/>
              </a:rPr>
              <a:t>Live KPIs: members, trainers, revenue, expiries</a:t>
            </a:r>
          </a:p>
        </p:txBody>
      </p:sp>
      <p:sp>
        <p:nvSpPr>
          <p:cNvPr id="9" name="Rectangle 8"/>
          <p:cNvSpPr/>
          <p:nvPr/>
        </p:nvSpPr>
        <p:spPr>
          <a:xfrm>
            <a:off x="6405372" y="2080260"/>
            <a:ext cx="5020056" cy="316839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dmin-payments.png"/>
          <p:cNvPicPr>
            <a:picLocks noChangeAspect="1"/>
          </p:cNvPicPr>
          <p:nvPr/>
        </p:nvPicPr>
        <p:blipFill>
          <a:blip r:embed="rId3"/>
          <a:stretch>
            <a:fillRect/>
          </a:stretch>
        </p:blipFill>
        <p:spPr>
          <a:xfrm>
            <a:off x="6446520" y="2121408"/>
            <a:ext cx="4937760" cy="3086100"/>
          </a:xfrm>
          <a:prstGeom prst="rect">
            <a:avLst/>
          </a:prstGeom>
        </p:spPr>
      </p:pic>
      <p:sp>
        <p:nvSpPr>
          <p:cNvPr id="11" name="TextBox 10"/>
          <p:cNvSpPr txBox="1"/>
          <p:nvPr/>
        </p:nvSpPr>
        <p:spPr>
          <a:xfrm>
            <a:off x="6446520" y="5504688"/>
            <a:ext cx="4937760" cy="274320"/>
          </a:xfrm>
          <a:prstGeom prst="rect">
            <a:avLst/>
          </a:prstGeom>
          <a:noFill/>
        </p:spPr>
        <p:txBody>
          <a:bodyPr wrap="square" lIns="0" rIns="0" tIns="0" bIns="0" anchor="t">
            <a:spAutoFit/>
          </a:bodyPr>
          <a:lstStyle/>
          <a:p>
            <a:pPr algn="ctr">
              <a:lnSpc>
                <a:spcPct val="100000"/>
              </a:lnSpc>
              <a:spcAft>
                <a:spcPts val="0"/>
              </a:spcAft>
            </a:pPr>
            <a:r>
              <a:rPr sz="1100" b="0">
                <a:solidFill>
                  <a:srgbClr val="9AA59D"/>
                </a:solidFill>
                <a:latin typeface="Segoe UI"/>
              </a:rPr>
              <a:t>Payment ledger &amp; refunds</a:t>
            </a:r>
          </a:p>
        </p:txBody>
      </p:sp>
      <p:sp>
        <p:nvSpPr>
          <p:cNvPr id="12" name="TextBox 11"/>
          <p:cNvSpPr txBox="1"/>
          <p:nvPr/>
        </p:nvSpPr>
        <p:spPr>
          <a:xfrm>
            <a:off x="777240" y="5870448"/>
            <a:ext cx="10515600" cy="365760"/>
          </a:xfrm>
          <a:prstGeom prst="rect">
            <a:avLst/>
          </a:prstGeom>
          <a:noFill/>
        </p:spPr>
        <p:txBody>
          <a:bodyPr wrap="square" lIns="0" rIns="0" tIns="0" bIns="0" anchor="t">
            <a:spAutoFit/>
          </a:bodyPr>
          <a:lstStyle/>
          <a:p>
            <a:pPr algn="l">
              <a:lnSpc>
                <a:spcPct val="100000"/>
              </a:lnSpc>
              <a:spcAft>
                <a:spcPts val="0"/>
              </a:spcAft>
            </a:pPr>
            <a:r>
              <a:rPr sz="1400" b="0">
                <a:solidFill>
                  <a:srgbClr val="F5F7F4"/>
                </a:solidFill>
                <a:latin typeface="Segoe UI"/>
              </a:rPr>
              <a:t>Approve applications  ·  price subscription plans  ·  reconcile payments  ·  audited actions</a:t>
            </a:r>
          </a:p>
        </p:txBody>
      </p:sp>
      <p:sp>
        <p:nvSpPr>
          <p:cNvPr id="13" name="TextBox 12"/>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14" name="TextBox 13"/>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CORE FLOW</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Payments &amp; subscriptions</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55064"/>
            <a:ext cx="10424160" cy="457200"/>
          </a:xfrm>
          <a:prstGeom prst="rect">
            <a:avLst/>
          </a:prstGeom>
          <a:noFill/>
        </p:spPr>
        <p:txBody>
          <a:bodyPr wrap="square" lIns="0" rIns="0" tIns="0" bIns="0" anchor="t">
            <a:spAutoFit/>
          </a:bodyPr>
          <a:lstStyle/>
          <a:p>
            <a:pPr algn="l">
              <a:lnSpc>
                <a:spcPct val="100000"/>
              </a:lnSpc>
              <a:spcAft>
                <a:spcPts val="0"/>
              </a:spcAft>
            </a:pPr>
            <a:r>
              <a:rPr sz="1500" b="0">
                <a:solidFill>
                  <a:srgbClr val="9AA59D"/>
                </a:solidFill>
                <a:latin typeface="Segoe UI"/>
              </a:rPr>
              <a:t>Idempotent checkout, signed webhooks, and access that follows the money.</a:t>
            </a:r>
          </a:p>
        </p:txBody>
      </p:sp>
      <p:sp>
        <p:nvSpPr>
          <p:cNvPr id="7" name="Rounded Rectangle 6"/>
          <p:cNvSpPr/>
          <p:nvPr/>
        </p:nvSpPr>
        <p:spPr>
          <a:xfrm>
            <a:off x="822960" y="2834640"/>
            <a:ext cx="1783080" cy="1051560"/>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Checkout</a:t>
            </a:r>
          </a:p>
          <a:p>
            <a:pPr algn="ctr"/>
            <a:r>
              <a:rPr sz="1000">
                <a:solidFill>
                  <a:srgbClr val="9AA59D"/>
                </a:solidFill>
                <a:latin typeface="Segoe UI"/>
              </a:rPr>
              <a:t>created</a:t>
            </a:r>
          </a:p>
        </p:txBody>
      </p:sp>
      <p:sp>
        <p:nvSpPr>
          <p:cNvPr id="8" name="Right Arrow 7"/>
          <p:cNvSpPr/>
          <p:nvPr/>
        </p:nvSpPr>
        <p:spPr>
          <a:xfrm>
            <a:off x="2651760" y="3273552"/>
            <a:ext cx="320040" cy="146304"/>
          </a:xfrm>
          <a:prstGeom prst="rightArrow">
            <a:avLst/>
          </a:prstGeom>
          <a:solidFill>
            <a:srgbClr val="6FA8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063240" y="2834640"/>
            <a:ext cx="1783080" cy="1051560"/>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Provider</a:t>
            </a:r>
          </a:p>
          <a:p>
            <a:pPr algn="ctr"/>
            <a:r>
              <a:rPr sz="1000">
                <a:solidFill>
                  <a:srgbClr val="9AA59D"/>
                </a:solidFill>
                <a:latin typeface="Segoe UI"/>
              </a:rPr>
              <a:t>redirect</a:t>
            </a:r>
          </a:p>
        </p:txBody>
      </p:sp>
      <p:sp>
        <p:nvSpPr>
          <p:cNvPr id="10" name="Right Arrow 9"/>
          <p:cNvSpPr/>
          <p:nvPr/>
        </p:nvSpPr>
        <p:spPr>
          <a:xfrm>
            <a:off x="4892040" y="3273552"/>
            <a:ext cx="320040" cy="146304"/>
          </a:xfrm>
          <a:prstGeom prst="rightArrow">
            <a:avLst/>
          </a:prstGeom>
          <a:solidFill>
            <a:srgbClr val="6FA8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303520" y="2834640"/>
            <a:ext cx="1783080" cy="1051560"/>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Signed</a:t>
            </a:r>
          </a:p>
          <a:p>
            <a:pPr algn="ctr"/>
            <a:r>
              <a:rPr sz="1000">
                <a:solidFill>
                  <a:srgbClr val="9AA59D"/>
                </a:solidFill>
                <a:latin typeface="Segoe UI"/>
              </a:rPr>
              <a:t>webhook</a:t>
            </a:r>
          </a:p>
        </p:txBody>
      </p:sp>
      <p:sp>
        <p:nvSpPr>
          <p:cNvPr id="12" name="Right Arrow 11"/>
          <p:cNvSpPr/>
          <p:nvPr/>
        </p:nvSpPr>
        <p:spPr>
          <a:xfrm>
            <a:off x="7132320" y="3273552"/>
            <a:ext cx="320040" cy="146304"/>
          </a:xfrm>
          <a:prstGeom prst="rightArrow">
            <a:avLst/>
          </a:prstGeom>
          <a:solidFill>
            <a:srgbClr val="6FA8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7543800" y="2834640"/>
            <a:ext cx="1783080" cy="1051560"/>
          </a:xfrm>
          <a:prstGeom prst="roundRect">
            <a:avLst>
              <a:gd name="adj" fmla="val 12000"/>
            </a:avLst>
          </a:prstGeom>
          <a:solidFill>
            <a:srgbClr val="141A17"/>
          </a:solidFill>
          <a:ln w="12700">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5F7F4"/>
                </a:solidFill>
                <a:latin typeface="Segoe UI Semibold"/>
              </a:rPr>
              <a:t>Payment</a:t>
            </a:r>
          </a:p>
          <a:p>
            <a:pPr algn="ctr"/>
            <a:r>
              <a:rPr sz="1000">
                <a:solidFill>
                  <a:srgbClr val="9AA59D"/>
                </a:solidFill>
                <a:latin typeface="Segoe UI"/>
              </a:rPr>
              <a:t>confirmed</a:t>
            </a:r>
          </a:p>
        </p:txBody>
      </p:sp>
      <p:sp>
        <p:nvSpPr>
          <p:cNvPr id="14" name="Right Arrow 13"/>
          <p:cNvSpPr/>
          <p:nvPr/>
        </p:nvSpPr>
        <p:spPr>
          <a:xfrm>
            <a:off x="9372600" y="3273552"/>
            <a:ext cx="320040" cy="146304"/>
          </a:xfrm>
          <a:prstGeom prst="rightArrow">
            <a:avLst/>
          </a:prstGeom>
          <a:solidFill>
            <a:srgbClr val="6FA8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784080" y="2834640"/>
            <a:ext cx="1783080" cy="1051560"/>
          </a:xfrm>
          <a:prstGeom prst="roundRect">
            <a:avLst>
              <a:gd name="adj" fmla="val 12000"/>
            </a:avLst>
          </a:prstGeom>
          <a:solidFill>
            <a:srgbClr val="1C2A18"/>
          </a:solidFill>
          <a:ln w="12700">
            <a:solidFill>
              <a:srgbClr val="A8E0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A8E063"/>
                </a:solidFill>
                <a:latin typeface="Segoe UI Semibold"/>
              </a:rPr>
              <a:t>Subscription</a:t>
            </a:r>
          </a:p>
          <a:p>
            <a:pPr algn="ctr"/>
            <a:r>
              <a:rPr sz="1000">
                <a:solidFill>
                  <a:srgbClr val="9AA59D"/>
                </a:solidFill>
                <a:latin typeface="Segoe UI"/>
              </a:rPr>
              <a:t>active</a:t>
            </a:r>
          </a:p>
        </p:txBody>
      </p:sp>
      <p:sp>
        <p:nvSpPr>
          <p:cNvPr id="16" name="Rectangle 15"/>
          <p:cNvSpPr/>
          <p:nvPr/>
        </p:nvSpPr>
        <p:spPr>
          <a:xfrm>
            <a:off x="822960" y="4434840"/>
            <a:ext cx="3291840" cy="118872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115568" y="4727448"/>
            <a:ext cx="2706624"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Idempotency</a:t>
            </a:r>
          </a:p>
        </p:txBody>
      </p:sp>
      <p:sp>
        <p:nvSpPr>
          <p:cNvPr id="18" name="TextBox 17"/>
          <p:cNvSpPr txBox="1"/>
          <p:nvPr/>
        </p:nvSpPr>
        <p:spPr>
          <a:xfrm>
            <a:off x="1115568" y="5029200"/>
            <a:ext cx="2706624" cy="530352"/>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The same checkout is never charged twice</a:t>
            </a:r>
          </a:p>
        </p:txBody>
      </p:sp>
      <p:sp>
        <p:nvSpPr>
          <p:cNvPr id="19" name="Rectangle 18"/>
          <p:cNvSpPr/>
          <p:nvPr/>
        </p:nvSpPr>
        <p:spPr>
          <a:xfrm>
            <a:off x="4407408" y="4434840"/>
            <a:ext cx="3291840" cy="118872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00016" y="4727448"/>
            <a:ext cx="2706624"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Refunds</a:t>
            </a:r>
          </a:p>
        </p:txBody>
      </p:sp>
      <p:sp>
        <p:nvSpPr>
          <p:cNvPr id="21" name="TextBox 20"/>
          <p:cNvSpPr txBox="1"/>
          <p:nvPr/>
        </p:nvSpPr>
        <p:spPr>
          <a:xfrm>
            <a:off x="4700016" y="5029200"/>
            <a:ext cx="2706624" cy="530352"/>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Owner-initiated, access reconciled automatically</a:t>
            </a:r>
          </a:p>
        </p:txBody>
      </p:sp>
      <p:sp>
        <p:nvSpPr>
          <p:cNvPr id="22" name="Rectangle 21"/>
          <p:cNvSpPr/>
          <p:nvPr/>
        </p:nvSpPr>
        <p:spPr>
          <a:xfrm>
            <a:off x="7991856" y="4434840"/>
            <a:ext cx="3291840" cy="1188720"/>
          </a:xfrm>
          <a:prstGeom prst="rect">
            <a:avLst/>
          </a:prstGeom>
          <a:solidFill>
            <a:srgbClr val="141A17"/>
          </a:solidFill>
          <a:ln w="9525">
            <a:solidFill>
              <a:srgbClr val="27302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84464" y="4727448"/>
            <a:ext cx="2706624"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Daily cron</a:t>
            </a:r>
          </a:p>
        </p:txBody>
      </p:sp>
      <p:sp>
        <p:nvSpPr>
          <p:cNvPr id="24" name="TextBox 23"/>
          <p:cNvSpPr txBox="1"/>
          <p:nvPr/>
        </p:nvSpPr>
        <p:spPr>
          <a:xfrm>
            <a:off x="8284464" y="5029200"/>
            <a:ext cx="2706624" cy="530352"/>
          </a:xfrm>
          <a:prstGeom prst="rect">
            <a:avLst/>
          </a:prstGeom>
          <a:noFill/>
        </p:spPr>
        <p:txBody>
          <a:bodyPr wrap="square" lIns="0" rIns="0" tIns="0" bIns="0" anchor="t">
            <a:spAutoFit/>
          </a:bodyPr>
          <a:lstStyle/>
          <a:p>
            <a:pPr algn="l">
              <a:lnSpc>
                <a:spcPct val="115000"/>
              </a:lnSpc>
              <a:spcAft>
                <a:spcPts val="0"/>
              </a:spcAft>
            </a:pPr>
            <a:r>
              <a:rPr sz="1250" b="0">
                <a:solidFill>
                  <a:srgbClr val="9AA59D"/>
                </a:solidFill>
                <a:latin typeface="Segoe UI"/>
              </a:rPr>
              <a:t>Expiry, renewal and notification sweep</a:t>
            </a:r>
          </a:p>
        </p:txBody>
      </p:sp>
      <p:sp>
        <p:nvSpPr>
          <p:cNvPr id="25" name="TextBox 24"/>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6" name="TextBox 25"/>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NON-NEGOTIABLES</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Security &amp; quality</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77240" y="239572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88136" y="2286000"/>
            <a:ext cx="4754880" cy="365760"/>
          </a:xfrm>
          <a:prstGeom prst="rect">
            <a:avLst/>
          </a:prstGeom>
          <a:noFill/>
        </p:spPr>
        <p:txBody>
          <a:bodyPr wrap="square" lIns="0" rIns="0" tIns="0" bIns="0" anchor="t">
            <a:spAutoFit/>
          </a:bodyPr>
          <a:lstStyle/>
          <a:p>
            <a:pPr algn="l">
              <a:lnSpc>
                <a:spcPct val="100000"/>
              </a:lnSpc>
              <a:spcAft>
                <a:spcPts val="0"/>
              </a:spcAft>
            </a:pPr>
            <a:r>
              <a:rPr sz="1700" b="1">
                <a:solidFill>
                  <a:srgbClr val="F5F7F4"/>
                </a:solidFill>
                <a:latin typeface="Segoe UI Semibold"/>
              </a:rPr>
              <a:t>Server-side authorisation</a:t>
            </a:r>
          </a:p>
        </p:txBody>
      </p:sp>
      <p:sp>
        <p:nvSpPr>
          <p:cNvPr id="8" name="TextBox 7"/>
          <p:cNvSpPr txBox="1"/>
          <p:nvPr/>
        </p:nvSpPr>
        <p:spPr>
          <a:xfrm>
            <a:off x="1088136" y="2578608"/>
            <a:ext cx="475488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Every mutation re-checks role and ownership</a:t>
            </a:r>
          </a:p>
        </p:txBody>
      </p:sp>
      <p:sp>
        <p:nvSpPr>
          <p:cNvPr id="9" name="Rectangle 8"/>
          <p:cNvSpPr/>
          <p:nvPr/>
        </p:nvSpPr>
        <p:spPr>
          <a:xfrm>
            <a:off x="777240" y="335584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88136" y="3246120"/>
            <a:ext cx="4754880" cy="365760"/>
          </a:xfrm>
          <a:prstGeom prst="rect">
            <a:avLst/>
          </a:prstGeom>
          <a:noFill/>
        </p:spPr>
        <p:txBody>
          <a:bodyPr wrap="square" lIns="0" rIns="0" tIns="0" bIns="0" anchor="t">
            <a:spAutoFit/>
          </a:bodyPr>
          <a:lstStyle/>
          <a:p>
            <a:pPr algn="l">
              <a:lnSpc>
                <a:spcPct val="100000"/>
              </a:lnSpc>
              <a:spcAft>
                <a:spcPts val="0"/>
              </a:spcAft>
            </a:pPr>
            <a:r>
              <a:rPr sz="1700" b="1">
                <a:solidFill>
                  <a:srgbClr val="F5F7F4"/>
                </a:solidFill>
                <a:latin typeface="Segoe UI Semibold"/>
              </a:rPr>
              <a:t>Signed HttpOnly sessions</a:t>
            </a:r>
          </a:p>
        </p:txBody>
      </p:sp>
      <p:sp>
        <p:nvSpPr>
          <p:cNvPr id="11" name="TextBox 10"/>
          <p:cNvSpPr txBox="1"/>
          <p:nvPr/>
        </p:nvSpPr>
        <p:spPr>
          <a:xfrm>
            <a:off x="1088136" y="3538728"/>
            <a:ext cx="475488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JWT, revocable, suspended users locked out</a:t>
            </a:r>
          </a:p>
        </p:txBody>
      </p:sp>
      <p:sp>
        <p:nvSpPr>
          <p:cNvPr id="12" name="Rectangle 11"/>
          <p:cNvSpPr/>
          <p:nvPr/>
        </p:nvSpPr>
        <p:spPr>
          <a:xfrm>
            <a:off x="777240" y="431596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88136" y="4206240"/>
            <a:ext cx="4754880" cy="365760"/>
          </a:xfrm>
          <a:prstGeom prst="rect">
            <a:avLst/>
          </a:prstGeom>
          <a:noFill/>
        </p:spPr>
        <p:txBody>
          <a:bodyPr wrap="square" lIns="0" rIns="0" tIns="0" bIns="0" anchor="t">
            <a:spAutoFit/>
          </a:bodyPr>
          <a:lstStyle/>
          <a:p>
            <a:pPr algn="l">
              <a:lnSpc>
                <a:spcPct val="100000"/>
              </a:lnSpc>
              <a:spcAft>
                <a:spcPts val="0"/>
              </a:spcAft>
            </a:pPr>
            <a:r>
              <a:rPr sz="1700" b="1">
                <a:solidFill>
                  <a:srgbClr val="F5F7F4"/>
                </a:solidFill>
                <a:latin typeface="Segoe UI Semibold"/>
              </a:rPr>
              <a:t>Hardened headers</a:t>
            </a:r>
          </a:p>
        </p:txBody>
      </p:sp>
      <p:sp>
        <p:nvSpPr>
          <p:cNvPr id="14" name="TextBox 13"/>
          <p:cNvSpPr txBox="1"/>
          <p:nvPr/>
        </p:nvSpPr>
        <p:spPr>
          <a:xfrm>
            <a:off x="1088136" y="4498848"/>
            <a:ext cx="475488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CSP, HSTS, no external font or script hosts</a:t>
            </a:r>
          </a:p>
        </p:txBody>
      </p:sp>
      <p:sp>
        <p:nvSpPr>
          <p:cNvPr id="15" name="Rectangle 14"/>
          <p:cNvSpPr/>
          <p:nvPr/>
        </p:nvSpPr>
        <p:spPr>
          <a:xfrm>
            <a:off x="777240" y="527608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8136" y="5166360"/>
            <a:ext cx="4754880" cy="365760"/>
          </a:xfrm>
          <a:prstGeom prst="rect">
            <a:avLst/>
          </a:prstGeom>
          <a:noFill/>
        </p:spPr>
        <p:txBody>
          <a:bodyPr wrap="square" lIns="0" rIns="0" tIns="0" bIns="0" anchor="t">
            <a:spAutoFit/>
          </a:bodyPr>
          <a:lstStyle/>
          <a:p>
            <a:pPr algn="l">
              <a:lnSpc>
                <a:spcPct val="100000"/>
              </a:lnSpc>
              <a:spcAft>
                <a:spcPts val="0"/>
              </a:spcAft>
            </a:pPr>
            <a:r>
              <a:rPr sz="1700" b="1">
                <a:solidFill>
                  <a:srgbClr val="F5F7F4"/>
                </a:solidFill>
                <a:latin typeface="Segoe UI Semibold"/>
              </a:rPr>
              <a:t>Audit log</a:t>
            </a:r>
          </a:p>
        </p:txBody>
      </p:sp>
      <p:sp>
        <p:nvSpPr>
          <p:cNvPr id="17" name="TextBox 16"/>
          <p:cNvSpPr txBox="1"/>
          <p:nvPr/>
        </p:nvSpPr>
        <p:spPr>
          <a:xfrm>
            <a:off x="1088136" y="5458968"/>
            <a:ext cx="475488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Sensitive admin and payment actions recorded</a:t>
            </a:r>
          </a:p>
        </p:txBody>
      </p:sp>
      <p:sp>
        <p:nvSpPr>
          <p:cNvPr id="18" name="Rectangle 17"/>
          <p:cNvSpPr/>
          <p:nvPr/>
        </p:nvSpPr>
        <p:spPr>
          <a:xfrm>
            <a:off x="6309360" y="239572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620256" y="2286000"/>
            <a:ext cx="4754880" cy="365760"/>
          </a:xfrm>
          <a:prstGeom prst="rect">
            <a:avLst/>
          </a:prstGeom>
          <a:noFill/>
        </p:spPr>
        <p:txBody>
          <a:bodyPr wrap="square" lIns="0" rIns="0" tIns="0" bIns="0" anchor="t">
            <a:spAutoFit/>
          </a:bodyPr>
          <a:lstStyle/>
          <a:p>
            <a:pPr algn="l">
              <a:lnSpc>
                <a:spcPct val="100000"/>
              </a:lnSpc>
              <a:spcAft>
                <a:spcPts val="0"/>
              </a:spcAft>
            </a:pPr>
            <a:r>
              <a:rPr sz="1700" b="1">
                <a:solidFill>
                  <a:srgbClr val="F5F7F4"/>
                </a:solidFill>
                <a:latin typeface="Segoe UI Semibold"/>
              </a:rPr>
              <a:t>73 automated tests</a:t>
            </a:r>
          </a:p>
        </p:txBody>
      </p:sp>
      <p:sp>
        <p:nvSpPr>
          <p:cNvPr id="20" name="TextBox 19"/>
          <p:cNvSpPr txBox="1"/>
          <p:nvPr/>
        </p:nvSpPr>
        <p:spPr>
          <a:xfrm>
            <a:off x="6620256" y="2578608"/>
            <a:ext cx="475488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Validation, auth, scheduling, finance, schema</a:t>
            </a:r>
          </a:p>
        </p:txBody>
      </p:sp>
      <p:sp>
        <p:nvSpPr>
          <p:cNvPr id="21" name="Rectangle 20"/>
          <p:cNvSpPr/>
          <p:nvPr/>
        </p:nvSpPr>
        <p:spPr>
          <a:xfrm>
            <a:off x="6309360" y="335584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20256" y="3246120"/>
            <a:ext cx="4754880" cy="365760"/>
          </a:xfrm>
          <a:prstGeom prst="rect">
            <a:avLst/>
          </a:prstGeom>
          <a:noFill/>
        </p:spPr>
        <p:txBody>
          <a:bodyPr wrap="square" lIns="0" rIns="0" tIns="0" bIns="0" anchor="t">
            <a:spAutoFit/>
          </a:bodyPr>
          <a:lstStyle/>
          <a:p>
            <a:pPr algn="l">
              <a:lnSpc>
                <a:spcPct val="100000"/>
              </a:lnSpc>
              <a:spcAft>
                <a:spcPts val="0"/>
              </a:spcAft>
            </a:pPr>
            <a:r>
              <a:rPr sz="1700" b="1">
                <a:solidFill>
                  <a:srgbClr val="F5F7F4"/>
                </a:solidFill>
                <a:latin typeface="Segoe UI Semibold"/>
              </a:rPr>
              <a:t>Strict TypeScript</a:t>
            </a:r>
          </a:p>
        </p:txBody>
      </p:sp>
      <p:sp>
        <p:nvSpPr>
          <p:cNvPr id="23" name="TextBox 22"/>
          <p:cNvSpPr txBox="1"/>
          <p:nvPr/>
        </p:nvSpPr>
        <p:spPr>
          <a:xfrm>
            <a:off x="6620256" y="3538728"/>
            <a:ext cx="475488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tsc --noEmit clean, ESLint enforced</a:t>
            </a:r>
          </a:p>
        </p:txBody>
      </p:sp>
      <p:sp>
        <p:nvSpPr>
          <p:cNvPr id="24" name="Rectangle 23"/>
          <p:cNvSpPr/>
          <p:nvPr/>
        </p:nvSpPr>
        <p:spPr>
          <a:xfrm>
            <a:off x="6309360" y="431596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620256" y="4206240"/>
            <a:ext cx="4754880" cy="365760"/>
          </a:xfrm>
          <a:prstGeom prst="rect">
            <a:avLst/>
          </a:prstGeom>
          <a:noFill/>
        </p:spPr>
        <p:txBody>
          <a:bodyPr wrap="square" lIns="0" rIns="0" tIns="0" bIns="0" anchor="t">
            <a:spAutoFit/>
          </a:bodyPr>
          <a:lstStyle/>
          <a:p>
            <a:pPr algn="l">
              <a:lnSpc>
                <a:spcPct val="100000"/>
              </a:lnSpc>
              <a:spcAft>
                <a:spcPts val="0"/>
              </a:spcAft>
            </a:pPr>
            <a:r>
              <a:rPr sz="1700" b="1">
                <a:solidFill>
                  <a:srgbClr val="F5F7F4"/>
                </a:solidFill>
                <a:latin typeface="Segoe UI Semibold"/>
              </a:rPr>
              <a:t>CI on every push</a:t>
            </a:r>
          </a:p>
        </p:txBody>
      </p:sp>
      <p:sp>
        <p:nvSpPr>
          <p:cNvPr id="26" name="TextBox 25"/>
          <p:cNvSpPr txBox="1"/>
          <p:nvPr/>
        </p:nvSpPr>
        <p:spPr>
          <a:xfrm>
            <a:off x="6620256" y="4498848"/>
            <a:ext cx="475488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GitHub Actions: lint → test → typecheck → build</a:t>
            </a:r>
          </a:p>
        </p:txBody>
      </p:sp>
      <p:sp>
        <p:nvSpPr>
          <p:cNvPr id="27" name="Rectangle 26"/>
          <p:cNvSpPr/>
          <p:nvPr/>
        </p:nvSpPr>
        <p:spPr>
          <a:xfrm>
            <a:off x="6309360" y="527608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620256" y="5166360"/>
            <a:ext cx="4754880" cy="365760"/>
          </a:xfrm>
          <a:prstGeom prst="rect">
            <a:avLst/>
          </a:prstGeom>
          <a:noFill/>
        </p:spPr>
        <p:txBody>
          <a:bodyPr wrap="square" lIns="0" rIns="0" tIns="0" bIns="0" anchor="t">
            <a:spAutoFit/>
          </a:bodyPr>
          <a:lstStyle/>
          <a:p>
            <a:pPr algn="l">
              <a:lnSpc>
                <a:spcPct val="100000"/>
              </a:lnSpc>
              <a:spcAft>
                <a:spcPts val="0"/>
              </a:spcAft>
            </a:pPr>
            <a:r>
              <a:rPr sz="1700" b="1">
                <a:solidFill>
                  <a:srgbClr val="F5F7F4"/>
                </a:solidFill>
                <a:latin typeface="Segoe UI Semibold"/>
              </a:rPr>
              <a:t>Reproducible data</a:t>
            </a:r>
          </a:p>
        </p:txBody>
      </p:sp>
      <p:sp>
        <p:nvSpPr>
          <p:cNvPr id="29" name="TextBox 28"/>
          <p:cNvSpPr txBox="1"/>
          <p:nvPr/>
        </p:nvSpPr>
        <p:spPr>
          <a:xfrm>
            <a:off x="6620256" y="5458968"/>
            <a:ext cx="475488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Migrations + idempotent seed script</a:t>
            </a:r>
          </a:p>
        </p:txBody>
      </p:sp>
      <p:sp>
        <p:nvSpPr>
          <p:cNvPr id="30" name="TextBox 29"/>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31" name="TextBox 30"/>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EXPERIENCE</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Built for real users</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36092" y="2153412"/>
            <a:ext cx="5568696" cy="351129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dark-member.png"/>
          <p:cNvPicPr>
            <a:picLocks noChangeAspect="1"/>
          </p:cNvPicPr>
          <p:nvPr/>
        </p:nvPicPr>
        <p:blipFill>
          <a:blip r:embed="rId2"/>
          <a:stretch>
            <a:fillRect/>
          </a:stretch>
        </p:blipFill>
        <p:spPr>
          <a:xfrm>
            <a:off x="777240" y="2194560"/>
            <a:ext cx="5486400" cy="3429000"/>
          </a:xfrm>
          <a:prstGeom prst="rect">
            <a:avLst/>
          </a:prstGeom>
        </p:spPr>
      </p:pic>
      <p:sp>
        <p:nvSpPr>
          <p:cNvPr id="8" name="TextBox 7"/>
          <p:cNvSpPr txBox="1"/>
          <p:nvPr/>
        </p:nvSpPr>
        <p:spPr>
          <a:xfrm>
            <a:off x="777240" y="5650992"/>
            <a:ext cx="5486400" cy="274320"/>
          </a:xfrm>
          <a:prstGeom prst="rect">
            <a:avLst/>
          </a:prstGeom>
          <a:noFill/>
        </p:spPr>
        <p:txBody>
          <a:bodyPr wrap="square" lIns="0" rIns="0" tIns="0" bIns="0" anchor="t">
            <a:spAutoFit/>
          </a:bodyPr>
          <a:lstStyle/>
          <a:p>
            <a:pPr algn="ctr">
              <a:lnSpc>
                <a:spcPct val="100000"/>
              </a:lnSpc>
              <a:spcAft>
                <a:spcPts val="0"/>
              </a:spcAft>
            </a:pPr>
            <a:r>
              <a:rPr sz="1100" b="0">
                <a:solidFill>
                  <a:srgbClr val="9AA59D"/>
                </a:solidFill>
                <a:latin typeface="Segoe UI"/>
              </a:rPr>
              <a:t>Dark theme</a:t>
            </a:r>
          </a:p>
        </p:txBody>
      </p:sp>
      <p:sp>
        <p:nvSpPr>
          <p:cNvPr id="9" name="Rectangle 8"/>
          <p:cNvSpPr/>
          <p:nvPr/>
        </p:nvSpPr>
        <p:spPr>
          <a:xfrm>
            <a:off x="6679692" y="2153412"/>
            <a:ext cx="1604967" cy="3374136"/>
          </a:xfrm>
          <a:prstGeom prst="rect">
            <a:avLst/>
          </a:prstGeom>
          <a:solidFill>
            <a:srgbClr val="273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mobile-member.png"/>
          <p:cNvPicPr>
            <a:picLocks noChangeAspect="1"/>
          </p:cNvPicPr>
          <p:nvPr/>
        </p:nvPicPr>
        <p:blipFill>
          <a:blip r:embed="rId3"/>
          <a:stretch>
            <a:fillRect/>
          </a:stretch>
        </p:blipFill>
        <p:spPr>
          <a:xfrm>
            <a:off x="6720840" y="2194560"/>
            <a:ext cx="1522671" cy="3291840"/>
          </a:xfrm>
          <a:prstGeom prst="rect">
            <a:avLst/>
          </a:prstGeom>
        </p:spPr>
      </p:pic>
      <p:sp>
        <p:nvSpPr>
          <p:cNvPr id="11" name="TextBox 10"/>
          <p:cNvSpPr txBox="1"/>
          <p:nvPr/>
        </p:nvSpPr>
        <p:spPr>
          <a:xfrm>
            <a:off x="6720840" y="5650992"/>
            <a:ext cx="1522671" cy="274320"/>
          </a:xfrm>
          <a:prstGeom prst="rect">
            <a:avLst/>
          </a:prstGeom>
          <a:noFill/>
        </p:spPr>
        <p:txBody>
          <a:bodyPr wrap="square" lIns="0" rIns="0" tIns="0" bIns="0" anchor="t">
            <a:spAutoFit/>
          </a:bodyPr>
          <a:lstStyle/>
          <a:p>
            <a:pPr algn="ctr">
              <a:lnSpc>
                <a:spcPct val="100000"/>
              </a:lnSpc>
              <a:spcAft>
                <a:spcPts val="0"/>
              </a:spcAft>
            </a:pPr>
            <a:r>
              <a:rPr sz="1100" b="0">
                <a:solidFill>
                  <a:srgbClr val="9AA59D"/>
                </a:solidFill>
                <a:latin typeface="Segoe UI"/>
              </a:rPr>
              <a:t>Responsive</a:t>
            </a:r>
          </a:p>
        </p:txBody>
      </p:sp>
      <p:sp>
        <p:nvSpPr>
          <p:cNvPr id="12" name="Rectangle 11"/>
          <p:cNvSpPr/>
          <p:nvPr/>
        </p:nvSpPr>
        <p:spPr>
          <a:xfrm>
            <a:off x="8732520" y="244144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43416" y="2331720"/>
            <a:ext cx="2697480" cy="365760"/>
          </a:xfrm>
          <a:prstGeom prst="rect">
            <a:avLst/>
          </a:prstGeom>
          <a:noFill/>
        </p:spPr>
        <p:txBody>
          <a:bodyPr wrap="square" lIns="0" rIns="0" tIns="0" bIns="0" anchor="t">
            <a:spAutoFit/>
          </a:bodyPr>
          <a:lstStyle/>
          <a:p>
            <a:pPr algn="l">
              <a:lnSpc>
                <a:spcPct val="100000"/>
              </a:lnSpc>
              <a:spcAft>
                <a:spcPts val="0"/>
              </a:spcAft>
            </a:pPr>
            <a:r>
              <a:rPr sz="1500" b="1">
                <a:solidFill>
                  <a:srgbClr val="F5F7F4"/>
                </a:solidFill>
                <a:latin typeface="Segoe UI Semibold"/>
              </a:rPr>
              <a:t>Bilingual</a:t>
            </a:r>
          </a:p>
        </p:txBody>
      </p:sp>
      <p:sp>
        <p:nvSpPr>
          <p:cNvPr id="14" name="TextBox 13"/>
          <p:cNvSpPr txBox="1"/>
          <p:nvPr/>
        </p:nvSpPr>
        <p:spPr>
          <a:xfrm>
            <a:off x="9043416" y="2624328"/>
            <a:ext cx="2697480" cy="274320"/>
          </a:xfrm>
          <a:prstGeom prst="rect">
            <a:avLst/>
          </a:prstGeom>
          <a:noFill/>
        </p:spPr>
        <p:txBody>
          <a:bodyPr wrap="square" lIns="0" rIns="0" tIns="0" bIns="0" anchor="t">
            <a:spAutoFit/>
          </a:bodyPr>
          <a:lstStyle/>
          <a:p>
            <a:pPr algn="l">
              <a:lnSpc>
                <a:spcPct val="100000"/>
              </a:lnSpc>
              <a:spcAft>
                <a:spcPts val="0"/>
              </a:spcAft>
            </a:pPr>
            <a:r>
              <a:rPr sz="1100" b="0">
                <a:solidFill>
                  <a:srgbClr val="9AA59D"/>
                </a:solidFill>
                <a:latin typeface="Segoe UI"/>
              </a:rPr>
              <a:t>EN · فارسی, one dictionary</a:t>
            </a:r>
          </a:p>
        </p:txBody>
      </p:sp>
      <p:sp>
        <p:nvSpPr>
          <p:cNvPr id="15" name="Rectangle 14"/>
          <p:cNvSpPr/>
          <p:nvPr/>
        </p:nvSpPr>
        <p:spPr>
          <a:xfrm>
            <a:off x="8732520" y="3246120"/>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043416" y="3136392"/>
            <a:ext cx="2697480" cy="365760"/>
          </a:xfrm>
          <a:prstGeom prst="rect">
            <a:avLst/>
          </a:prstGeom>
          <a:noFill/>
        </p:spPr>
        <p:txBody>
          <a:bodyPr wrap="square" lIns="0" rIns="0" tIns="0" bIns="0" anchor="t">
            <a:spAutoFit/>
          </a:bodyPr>
          <a:lstStyle/>
          <a:p>
            <a:pPr algn="l">
              <a:lnSpc>
                <a:spcPct val="100000"/>
              </a:lnSpc>
              <a:spcAft>
                <a:spcPts val="0"/>
              </a:spcAft>
            </a:pPr>
            <a:r>
              <a:rPr sz="1500" b="1">
                <a:solidFill>
                  <a:srgbClr val="F5F7F4"/>
                </a:solidFill>
                <a:latin typeface="Segoe UI Semibold"/>
              </a:rPr>
              <a:t>RTL-aware</a:t>
            </a:r>
          </a:p>
        </p:txBody>
      </p:sp>
      <p:sp>
        <p:nvSpPr>
          <p:cNvPr id="17" name="TextBox 16"/>
          <p:cNvSpPr txBox="1"/>
          <p:nvPr/>
        </p:nvSpPr>
        <p:spPr>
          <a:xfrm>
            <a:off x="9043416" y="3429000"/>
            <a:ext cx="2697480" cy="274320"/>
          </a:xfrm>
          <a:prstGeom prst="rect">
            <a:avLst/>
          </a:prstGeom>
          <a:noFill/>
        </p:spPr>
        <p:txBody>
          <a:bodyPr wrap="square" lIns="0" rIns="0" tIns="0" bIns="0" anchor="t">
            <a:spAutoFit/>
          </a:bodyPr>
          <a:lstStyle/>
          <a:p>
            <a:pPr algn="l">
              <a:lnSpc>
                <a:spcPct val="100000"/>
              </a:lnSpc>
              <a:spcAft>
                <a:spcPts val="0"/>
              </a:spcAft>
            </a:pPr>
            <a:r>
              <a:rPr sz="1100" b="0">
                <a:solidFill>
                  <a:srgbClr val="9AA59D"/>
                </a:solidFill>
                <a:latin typeface="Segoe UI"/>
              </a:rPr>
              <a:t>Layout mirrors, not just text</a:t>
            </a:r>
          </a:p>
        </p:txBody>
      </p:sp>
      <p:sp>
        <p:nvSpPr>
          <p:cNvPr id="18" name="Rectangle 17"/>
          <p:cNvSpPr/>
          <p:nvPr/>
        </p:nvSpPr>
        <p:spPr>
          <a:xfrm>
            <a:off x="8732520" y="4050792"/>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043416" y="3941064"/>
            <a:ext cx="2697480" cy="365760"/>
          </a:xfrm>
          <a:prstGeom prst="rect">
            <a:avLst/>
          </a:prstGeom>
          <a:noFill/>
        </p:spPr>
        <p:txBody>
          <a:bodyPr wrap="square" lIns="0" rIns="0" tIns="0" bIns="0" anchor="t">
            <a:spAutoFit/>
          </a:bodyPr>
          <a:lstStyle/>
          <a:p>
            <a:pPr algn="l">
              <a:lnSpc>
                <a:spcPct val="100000"/>
              </a:lnSpc>
              <a:spcAft>
                <a:spcPts val="0"/>
              </a:spcAft>
            </a:pPr>
            <a:r>
              <a:rPr sz="1500" b="1">
                <a:solidFill>
                  <a:srgbClr val="F5F7F4"/>
                </a:solidFill>
                <a:latin typeface="Segoe UI Semibold"/>
              </a:rPr>
              <a:t>Jalali dates</a:t>
            </a:r>
          </a:p>
        </p:txBody>
      </p:sp>
      <p:sp>
        <p:nvSpPr>
          <p:cNvPr id="20" name="TextBox 19"/>
          <p:cNvSpPr txBox="1"/>
          <p:nvPr/>
        </p:nvSpPr>
        <p:spPr>
          <a:xfrm>
            <a:off x="9043416" y="4233672"/>
            <a:ext cx="2697480" cy="274320"/>
          </a:xfrm>
          <a:prstGeom prst="rect">
            <a:avLst/>
          </a:prstGeom>
          <a:noFill/>
        </p:spPr>
        <p:txBody>
          <a:bodyPr wrap="square" lIns="0" rIns="0" tIns="0" bIns="0" anchor="t">
            <a:spAutoFit/>
          </a:bodyPr>
          <a:lstStyle/>
          <a:p>
            <a:pPr algn="l">
              <a:lnSpc>
                <a:spcPct val="100000"/>
              </a:lnSpc>
              <a:spcAft>
                <a:spcPts val="0"/>
              </a:spcAft>
            </a:pPr>
            <a:r>
              <a:rPr sz="1100" b="0">
                <a:solidFill>
                  <a:srgbClr val="9AA59D"/>
                </a:solidFill>
                <a:latin typeface="Segoe UI"/>
              </a:rPr>
              <a:t>Persian numerals &amp; currency</a:t>
            </a:r>
          </a:p>
        </p:txBody>
      </p:sp>
      <p:sp>
        <p:nvSpPr>
          <p:cNvPr id="21" name="Rectangle 20"/>
          <p:cNvSpPr/>
          <p:nvPr/>
        </p:nvSpPr>
        <p:spPr>
          <a:xfrm>
            <a:off x="8732520" y="4855464"/>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043416" y="4745736"/>
            <a:ext cx="2697480" cy="365760"/>
          </a:xfrm>
          <a:prstGeom prst="rect">
            <a:avLst/>
          </a:prstGeom>
          <a:noFill/>
        </p:spPr>
        <p:txBody>
          <a:bodyPr wrap="square" lIns="0" rIns="0" tIns="0" bIns="0" anchor="t">
            <a:spAutoFit/>
          </a:bodyPr>
          <a:lstStyle/>
          <a:p>
            <a:pPr algn="l">
              <a:lnSpc>
                <a:spcPct val="100000"/>
              </a:lnSpc>
              <a:spcAft>
                <a:spcPts val="0"/>
              </a:spcAft>
            </a:pPr>
            <a:r>
              <a:rPr sz="1500" b="1">
                <a:solidFill>
                  <a:srgbClr val="F5F7F4"/>
                </a:solidFill>
                <a:latin typeface="Segoe UI Semibold"/>
              </a:rPr>
              <a:t>Accessible</a:t>
            </a:r>
          </a:p>
        </p:txBody>
      </p:sp>
      <p:sp>
        <p:nvSpPr>
          <p:cNvPr id="23" name="TextBox 22"/>
          <p:cNvSpPr txBox="1"/>
          <p:nvPr/>
        </p:nvSpPr>
        <p:spPr>
          <a:xfrm>
            <a:off x="9043416" y="5038344"/>
            <a:ext cx="2697480" cy="274320"/>
          </a:xfrm>
          <a:prstGeom prst="rect">
            <a:avLst/>
          </a:prstGeom>
          <a:noFill/>
        </p:spPr>
        <p:txBody>
          <a:bodyPr wrap="square" lIns="0" rIns="0" tIns="0" bIns="0" anchor="t">
            <a:spAutoFit/>
          </a:bodyPr>
          <a:lstStyle/>
          <a:p>
            <a:pPr algn="l">
              <a:lnSpc>
                <a:spcPct val="100000"/>
              </a:lnSpc>
              <a:spcAft>
                <a:spcPts val="0"/>
              </a:spcAft>
            </a:pPr>
            <a:r>
              <a:rPr sz="1100" b="0">
                <a:solidFill>
                  <a:srgbClr val="9AA59D"/>
                </a:solidFill>
                <a:latin typeface="Segoe UI"/>
              </a:rPr>
              <a:t>Keyboard, contrast, states</a:t>
            </a:r>
          </a:p>
        </p:txBody>
      </p:sp>
      <p:sp>
        <p:nvSpPr>
          <p:cNvPr id="24" name="TextBox 23"/>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5" name="TextBox 24"/>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20624"/>
            <a:ext cx="9144000" cy="274320"/>
          </a:xfrm>
          <a:prstGeom prst="rect">
            <a:avLst/>
          </a:prstGeom>
          <a:noFill/>
        </p:spPr>
        <p:txBody>
          <a:bodyPr wrap="square" lIns="0" rIns="0" tIns="0" bIns="0" anchor="t">
            <a:spAutoFit/>
          </a:bodyPr>
          <a:lstStyle/>
          <a:p>
            <a:pPr algn="l">
              <a:lnSpc>
                <a:spcPct val="100000"/>
              </a:lnSpc>
              <a:spcAft>
                <a:spcPts val="0"/>
              </a:spcAft>
            </a:pPr>
            <a:r>
              <a:rPr sz="1100" b="1">
                <a:solidFill>
                  <a:srgbClr val="A8E063"/>
                </a:solidFill>
                <a:latin typeface="Segoe UI Semibold"/>
              </a:rPr>
              <a:t>CONCLUSION</a:t>
            </a:r>
          </a:p>
        </p:txBody>
      </p:sp>
      <p:sp>
        <p:nvSpPr>
          <p:cNvPr id="4" name="TextBox 3"/>
          <p:cNvSpPr txBox="1"/>
          <p:nvPr/>
        </p:nvSpPr>
        <p:spPr>
          <a:xfrm>
            <a:off x="777240" y="786384"/>
            <a:ext cx="10607040" cy="822960"/>
          </a:xfrm>
          <a:prstGeom prst="rect">
            <a:avLst/>
          </a:prstGeom>
          <a:noFill/>
        </p:spPr>
        <p:txBody>
          <a:bodyPr wrap="square" lIns="0" rIns="0" tIns="0" bIns="0" anchor="t">
            <a:spAutoFit/>
          </a:bodyPr>
          <a:lstStyle/>
          <a:p>
            <a:pPr algn="l">
              <a:lnSpc>
                <a:spcPct val="100000"/>
              </a:lnSpc>
              <a:spcAft>
                <a:spcPts val="0"/>
              </a:spcAft>
            </a:pPr>
            <a:r>
              <a:rPr sz="3400" b="1">
                <a:solidFill>
                  <a:srgbClr val="F5F7F4"/>
                </a:solidFill>
                <a:latin typeface="Segoe UI Semibold"/>
              </a:rPr>
              <a:t>Results &amp; future work</a:t>
            </a:r>
          </a:p>
        </p:txBody>
      </p:sp>
      <p:sp>
        <p:nvSpPr>
          <p:cNvPr id="5" name="Rectangle 4"/>
          <p:cNvSpPr/>
          <p:nvPr/>
        </p:nvSpPr>
        <p:spPr>
          <a:xfrm>
            <a:off x="777240" y="1444752"/>
            <a:ext cx="566928" cy="4445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2148840"/>
            <a:ext cx="4846320" cy="320040"/>
          </a:xfrm>
          <a:prstGeom prst="rect">
            <a:avLst/>
          </a:prstGeom>
          <a:noFill/>
        </p:spPr>
        <p:txBody>
          <a:bodyPr wrap="square" lIns="0" rIns="0" tIns="0" bIns="0" anchor="t">
            <a:spAutoFit/>
          </a:bodyPr>
          <a:lstStyle/>
          <a:p>
            <a:pPr algn="l">
              <a:lnSpc>
                <a:spcPct val="100000"/>
              </a:lnSpc>
              <a:spcAft>
                <a:spcPts val="0"/>
              </a:spcAft>
            </a:pPr>
            <a:r>
              <a:rPr sz="1200" b="1">
                <a:solidFill>
                  <a:srgbClr val="A8E063"/>
                </a:solidFill>
                <a:latin typeface="Segoe UI Semibold"/>
              </a:rPr>
              <a:t>DELIVERED</a:t>
            </a:r>
          </a:p>
        </p:txBody>
      </p:sp>
      <p:sp>
        <p:nvSpPr>
          <p:cNvPr id="7" name="Rectangle 6"/>
          <p:cNvSpPr/>
          <p:nvPr/>
        </p:nvSpPr>
        <p:spPr>
          <a:xfrm>
            <a:off x="777240" y="271576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88136" y="2606040"/>
            <a:ext cx="457200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End-to-end working platform</a:t>
            </a:r>
          </a:p>
        </p:txBody>
      </p:sp>
      <p:sp>
        <p:nvSpPr>
          <p:cNvPr id="9" name="TextBox 8"/>
          <p:cNvSpPr txBox="1"/>
          <p:nvPr/>
        </p:nvSpPr>
        <p:spPr>
          <a:xfrm>
            <a:off x="1088136" y="2898648"/>
            <a:ext cx="457200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All three roles, deployed and seeded</a:t>
            </a:r>
          </a:p>
        </p:txBody>
      </p:sp>
      <p:sp>
        <p:nvSpPr>
          <p:cNvPr id="10" name="Rectangle 9"/>
          <p:cNvSpPr/>
          <p:nvPr/>
        </p:nvSpPr>
        <p:spPr>
          <a:xfrm>
            <a:off x="777240" y="358444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88136" y="3474720"/>
            <a:ext cx="457200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Commerce layer</a:t>
            </a:r>
          </a:p>
        </p:txBody>
      </p:sp>
      <p:sp>
        <p:nvSpPr>
          <p:cNvPr id="12" name="TextBox 11"/>
          <p:cNvSpPr txBox="1"/>
          <p:nvPr/>
        </p:nvSpPr>
        <p:spPr>
          <a:xfrm>
            <a:off x="1088136" y="3767328"/>
            <a:ext cx="457200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Plans, checkout, webhooks, refunds</a:t>
            </a:r>
          </a:p>
        </p:txBody>
      </p:sp>
      <p:sp>
        <p:nvSpPr>
          <p:cNvPr id="13" name="Rectangle 12"/>
          <p:cNvSpPr/>
          <p:nvPr/>
        </p:nvSpPr>
        <p:spPr>
          <a:xfrm>
            <a:off x="777240" y="445312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88136" y="4343400"/>
            <a:ext cx="457200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Verified trust layer</a:t>
            </a:r>
          </a:p>
        </p:txBody>
      </p:sp>
      <p:sp>
        <p:nvSpPr>
          <p:cNvPr id="15" name="TextBox 14"/>
          <p:cNvSpPr txBox="1"/>
          <p:nvPr/>
        </p:nvSpPr>
        <p:spPr>
          <a:xfrm>
            <a:off x="1088136" y="4636008"/>
            <a:ext cx="457200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Reviews only from real members and clients</a:t>
            </a:r>
          </a:p>
        </p:txBody>
      </p:sp>
      <p:sp>
        <p:nvSpPr>
          <p:cNvPr id="16" name="TextBox 15"/>
          <p:cNvSpPr txBox="1"/>
          <p:nvPr/>
        </p:nvSpPr>
        <p:spPr>
          <a:xfrm>
            <a:off x="6309360" y="2148840"/>
            <a:ext cx="4846320" cy="320040"/>
          </a:xfrm>
          <a:prstGeom prst="rect">
            <a:avLst/>
          </a:prstGeom>
          <a:noFill/>
        </p:spPr>
        <p:txBody>
          <a:bodyPr wrap="square" lIns="0" rIns="0" tIns="0" bIns="0" anchor="t">
            <a:spAutoFit/>
          </a:bodyPr>
          <a:lstStyle/>
          <a:p>
            <a:pPr algn="l">
              <a:lnSpc>
                <a:spcPct val="100000"/>
              </a:lnSpc>
              <a:spcAft>
                <a:spcPts val="0"/>
              </a:spcAft>
            </a:pPr>
            <a:r>
              <a:rPr sz="1200" b="1">
                <a:solidFill>
                  <a:srgbClr val="A8E063"/>
                </a:solidFill>
                <a:latin typeface="Segoe UI Semibold"/>
              </a:rPr>
              <a:t>NEXT</a:t>
            </a:r>
          </a:p>
        </p:txBody>
      </p:sp>
      <p:sp>
        <p:nvSpPr>
          <p:cNvPr id="17" name="Rectangle 16"/>
          <p:cNvSpPr/>
          <p:nvPr/>
        </p:nvSpPr>
        <p:spPr>
          <a:xfrm>
            <a:off x="6309360" y="271576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620256" y="2606040"/>
            <a:ext cx="457200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Real payment provider</a:t>
            </a:r>
          </a:p>
        </p:txBody>
      </p:sp>
      <p:sp>
        <p:nvSpPr>
          <p:cNvPr id="19" name="TextBox 18"/>
          <p:cNvSpPr txBox="1"/>
          <p:nvPr/>
        </p:nvSpPr>
        <p:spPr>
          <a:xfrm>
            <a:off x="6620256" y="2898648"/>
            <a:ext cx="457200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Swap the demo adapter for a local gateway</a:t>
            </a:r>
          </a:p>
        </p:txBody>
      </p:sp>
      <p:sp>
        <p:nvSpPr>
          <p:cNvPr id="20" name="Rectangle 19"/>
          <p:cNvSpPr/>
          <p:nvPr/>
        </p:nvSpPr>
        <p:spPr>
          <a:xfrm>
            <a:off x="6309360" y="358444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620256" y="3474720"/>
            <a:ext cx="457200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Mobile app &amp; notifications</a:t>
            </a:r>
          </a:p>
        </p:txBody>
      </p:sp>
      <p:sp>
        <p:nvSpPr>
          <p:cNvPr id="22" name="TextBox 21"/>
          <p:cNvSpPr txBox="1"/>
          <p:nvPr/>
        </p:nvSpPr>
        <p:spPr>
          <a:xfrm>
            <a:off x="6620256" y="3767328"/>
            <a:ext cx="457200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Push reminders for sessions and plans</a:t>
            </a:r>
          </a:p>
        </p:txBody>
      </p:sp>
      <p:sp>
        <p:nvSpPr>
          <p:cNvPr id="23" name="Rectangle 22"/>
          <p:cNvSpPr/>
          <p:nvPr/>
        </p:nvSpPr>
        <p:spPr>
          <a:xfrm>
            <a:off x="6309360" y="4453128"/>
            <a:ext cx="100584" cy="100584"/>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20256" y="4343400"/>
            <a:ext cx="4572000" cy="365760"/>
          </a:xfrm>
          <a:prstGeom prst="rect">
            <a:avLst/>
          </a:prstGeom>
          <a:noFill/>
        </p:spPr>
        <p:txBody>
          <a:bodyPr wrap="square" lIns="0" rIns="0" tIns="0" bIns="0" anchor="t">
            <a:spAutoFit/>
          </a:bodyPr>
          <a:lstStyle/>
          <a:p>
            <a:pPr algn="l">
              <a:lnSpc>
                <a:spcPct val="100000"/>
              </a:lnSpc>
              <a:spcAft>
                <a:spcPts val="0"/>
              </a:spcAft>
            </a:pPr>
            <a:r>
              <a:rPr sz="1600" b="1">
                <a:solidFill>
                  <a:srgbClr val="F5F7F4"/>
                </a:solidFill>
                <a:latin typeface="Segoe UI Semibold"/>
              </a:rPr>
              <a:t>Analytics &amp; recommendations</a:t>
            </a:r>
          </a:p>
        </p:txBody>
      </p:sp>
      <p:sp>
        <p:nvSpPr>
          <p:cNvPr id="25" name="TextBox 24"/>
          <p:cNvSpPr txBox="1"/>
          <p:nvPr/>
        </p:nvSpPr>
        <p:spPr>
          <a:xfrm>
            <a:off x="6620256" y="4636008"/>
            <a:ext cx="4572000" cy="274320"/>
          </a:xfrm>
          <a:prstGeom prst="rect">
            <a:avLst/>
          </a:prstGeom>
          <a:noFill/>
        </p:spPr>
        <p:txBody>
          <a:bodyPr wrap="square" lIns="0" rIns="0" tIns="0" bIns="0" anchor="t">
            <a:spAutoFit/>
          </a:bodyPr>
          <a:lstStyle/>
          <a:p>
            <a:pPr algn="l">
              <a:lnSpc>
                <a:spcPct val="100000"/>
              </a:lnSpc>
              <a:spcAft>
                <a:spcPts val="0"/>
              </a:spcAft>
            </a:pPr>
            <a:r>
              <a:rPr sz="1300" b="0">
                <a:solidFill>
                  <a:srgbClr val="9AA59D"/>
                </a:solidFill>
                <a:latin typeface="Segoe UI"/>
              </a:rPr>
              <a:t>Retention insight, plan suggestions</a:t>
            </a:r>
          </a:p>
        </p:txBody>
      </p:sp>
      <p:sp>
        <p:nvSpPr>
          <p:cNvPr id="26" name="TextBox 25"/>
          <p:cNvSpPr txBox="1"/>
          <p:nvPr/>
        </p:nvSpPr>
        <p:spPr>
          <a:xfrm>
            <a:off x="777240" y="6272784"/>
            <a:ext cx="5486400" cy="274320"/>
          </a:xfrm>
          <a:prstGeom prst="rect">
            <a:avLst/>
          </a:prstGeom>
          <a:noFill/>
        </p:spPr>
        <p:txBody>
          <a:bodyPr wrap="square" lIns="0" rIns="0" tIns="0" bIns="0" anchor="t">
            <a:spAutoFit/>
          </a:bodyPr>
          <a:lstStyle/>
          <a:p>
            <a:pPr algn="l">
              <a:lnSpc>
                <a:spcPct val="100000"/>
              </a:lnSpc>
              <a:spcAft>
                <a:spcPts val="0"/>
              </a:spcAft>
            </a:pPr>
            <a:r>
              <a:rPr sz="1000" b="0">
                <a:solidFill>
                  <a:srgbClr val="5C665E"/>
                </a:solidFill>
                <a:latin typeface="Segoe UI Semibold"/>
              </a:rPr>
              <a:t>KooGYMaa</a:t>
            </a:r>
          </a:p>
        </p:txBody>
      </p:sp>
      <p:sp>
        <p:nvSpPr>
          <p:cNvPr id="27" name="TextBox 26"/>
          <p:cNvSpPr txBox="1"/>
          <p:nvPr/>
        </p:nvSpPr>
        <p:spPr>
          <a:xfrm>
            <a:off x="10607040" y="6272784"/>
            <a:ext cx="822960" cy="274320"/>
          </a:xfrm>
          <a:prstGeom prst="rect">
            <a:avLst/>
          </a:prstGeom>
          <a:noFill/>
        </p:spPr>
        <p:txBody>
          <a:bodyPr wrap="square" lIns="0" rIns="0" tIns="0" bIns="0" anchor="t">
            <a:spAutoFit/>
          </a:bodyPr>
          <a:lstStyle/>
          <a:p>
            <a:pPr algn="r">
              <a:lnSpc>
                <a:spcPct val="100000"/>
              </a:lnSpc>
              <a:spcAft>
                <a:spcPts val="0"/>
              </a:spcAft>
            </a:pPr>
            <a:r>
              <a:rPr sz="1000" b="0">
                <a:solidFill>
                  <a:srgbClr val="5C665E"/>
                </a:solidFill>
                <a:latin typeface="Segoe UI Semibold"/>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05840" y="2651760"/>
            <a:ext cx="9144000" cy="1097280"/>
          </a:xfrm>
          <a:prstGeom prst="rect">
            <a:avLst/>
          </a:prstGeom>
          <a:noFill/>
        </p:spPr>
        <p:txBody>
          <a:bodyPr wrap="square" lIns="0" rIns="0" tIns="0" bIns="0" anchor="t">
            <a:spAutoFit/>
          </a:bodyPr>
          <a:lstStyle/>
          <a:p>
            <a:pPr algn="l">
              <a:lnSpc>
                <a:spcPct val="100000"/>
              </a:lnSpc>
              <a:spcAft>
                <a:spcPts val="0"/>
              </a:spcAft>
            </a:pPr>
            <a:r>
              <a:rPr sz="6000" b="1">
                <a:solidFill>
                  <a:srgbClr val="F5F7F4"/>
                </a:solidFill>
                <a:latin typeface="Segoe UI Semibold"/>
              </a:rPr>
              <a:t>Thank you</a:t>
            </a:r>
          </a:p>
        </p:txBody>
      </p:sp>
      <p:sp>
        <p:nvSpPr>
          <p:cNvPr id="4" name="Rectangle 3"/>
          <p:cNvSpPr/>
          <p:nvPr/>
        </p:nvSpPr>
        <p:spPr>
          <a:xfrm>
            <a:off x="1033271" y="3794760"/>
            <a:ext cx="822960" cy="50800"/>
          </a:xfrm>
          <a:prstGeom prst="rect">
            <a:avLst/>
          </a:prstGeom>
          <a:solidFill>
            <a:srgbClr val="A8E0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4069080"/>
            <a:ext cx="8229600" cy="548640"/>
          </a:xfrm>
          <a:prstGeom prst="rect">
            <a:avLst/>
          </a:prstGeom>
          <a:noFill/>
        </p:spPr>
        <p:txBody>
          <a:bodyPr wrap="square" lIns="0" rIns="0" tIns="0" bIns="0" anchor="t">
            <a:spAutoFit/>
          </a:bodyPr>
          <a:lstStyle/>
          <a:p>
            <a:pPr algn="l">
              <a:lnSpc>
                <a:spcPct val="100000"/>
              </a:lnSpc>
              <a:spcAft>
                <a:spcPts val="0"/>
              </a:spcAft>
            </a:pPr>
            <a:r>
              <a:rPr sz="2200" b="0">
                <a:solidFill>
                  <a:srgbClr val="9AA59D"/>
                </a:solidFill>
                <a:latin typeface="Segoe UI"/>
              </a:rPr>
              <a:t>Questions &amp; live demo</a:t>
            </a:r>
          </a:p>
        </p:txBody>
      </p:sp>
      <p:sp>
        <p:nvSpPr>
          <p:cNvPr id="6" name="TextBox 5"/>
          <p:cNvSpPr txBox="1"/>
          <p:nvPr/>
        </p:nvSpPr>
        <p:spPr>
          <a:xfrm>
            <a:off x="1005840" y="5806440"/>
            <a:ext cx="8229600" cy="365760"/>
          </a:xfrm>
          <a:prstGeom prst="rect">
            <a:avLst/>
          </a:prstGeom>
          <a:noFill/>
        </p:spPr>
        <p:txBody>
          <a:bodyPr wrap="square" lIns="0" rIns="0" tIns="0" bIns="0" anchor="t">
            <a:spAutoFit/>
          </a:bodyPr>
          <a:lstStyle/>
          <a:p>
            <a:pPr algn="l">
              <a:lnSpc>
                <a:spcPct val="100000"/>
              </a:lnSpc>
              <a:spcAft>
                <a:spcPts val="0"/>
              </a:spcAft>
            </a:pPr>
            <a:r>
              <a:rPr sz="1200" b="0">
                <a:solidFill>
                  <a:srgbClr val="9AA59D"/>
                </a:solidFill>
                <a:latin typeface="Segoe UI"/>
              </a:rPr>
              <a:t>KooGYMaa  ·  github.com/aghrabooti/KooGYMaa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